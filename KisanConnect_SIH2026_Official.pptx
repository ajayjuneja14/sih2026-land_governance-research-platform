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E9FF"/>
                </a:solidFill>
                <a:latin typeface="Arial"/>
              </a:rPr>
              <a:t>SIH 2026 — Idea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1417320"/>
            <a:ext cx="1554480" cy="15544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  <a:latin typeface="Arial"/>
              </a:rPr>
              <a:t>KisanConnect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Arial"/>
              </a:rPr>
              <a:t>KISANCONNECT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333333"/>
                </a:solidFill>
                <a:latin typeface="Arial"/>
              </a:rPr>
              <a:t>Farmer-to-Consumer Direct Agricultural Marketplace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31920"/>
            <a:ext cx="6675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069080"/>
            <a:ext cx="7589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Arial"/>
              </a:rPr>
              <a:t>Problem Statement ID:  </a:t>
            </a:r>
            <a:r>
              <a:rPr sz="1200" b="0">
                <a:solidFill>
                  <a:srgbClr val="0070C0"/>
                </a:solidFill>
                <a:latin typeface="Arial"/>
              </a:rPr>
              <a:t>SIH-AGR-2026-047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453128"/>
            <a:ext cx="7589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Arial"/>
              </a:rPr>
              <a:t>Problem Statement Title:  </a:t>
            </a:r>
            <a:r>
              <a:rPr sz="1200" b="0">
                <a:solidFill>
                  <a:srgbClr val="0070C0"/>
                </a:solidFill>
                <a:latin typeface="Arial"/>
              </a:rPr>
              <a:t>Direct Market Linkage for Farmers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837176"/>
            <a:ext cx="7589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Arial"/>
              </a:rPr>
              <a:t>Theme:  </a:t>
            </a:r>
            <a:r>
              <a:rPr sz="1200" b="0">
                <a:solidFill>
                  <a:srgbClr val="0070C0"/>
                </a:solidFill>
                <a:latin typeface="Arial"/>
              </a:rPr>
              <a:t>Agriculture &amp; Rural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221224"/>
            <a:ext cx="7589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Arial"/>
              </a:rPr>
              <a:t>Team Name:  </a:t>
            </a:r>
            <a:r>
              <a:rPr sz="1200" b="0">
                <a:solidFill>
                  <a:srgbClr val="0070C0"/>
                </a:solidFill>
                <a:latin typeface="Arial"/>
              </a:rPr>
              <a:t>Ajay Juneja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605272"/>
            <a:ext cx="7589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Arial"/>
              </a:rPr>
              <a:t>Team Leader:  </a:t>
            </a:r>
            <a:r>
              <a:rPr sz="1200" b="0">
                <a:solidFill>
                  <a:srgbClr val="0070C0"/>
                </a:solidFill>
                <a:latin typeface="Arial"/>
              </a:rPr>
              <a:t>Ajay Juneja  |  ajayjuneja1407@gmail.com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63733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@SIH Idea Submission - KisanConnect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37336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109728"/>
            <a:ext cx="1417320" cy="7498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Arial"/>
              </a:rPr>
              <a:t>Ajay Juneja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Arial"/>
              </a:rPr>
              <a:t>IDEA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91440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02368" y="100584"/>
            <a:ext cx="548640" cy="777240"/>
          </a:xfrm>
          <a:prstGeom prst="rect">
            <a:avLst/>
          </a:prstGeom>
          <a:solidFill>
            <a:srgbClr val="FFE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2368" y="2560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7584" y="100584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SMART INDIA</a:t>
            </a:r>
          </a:p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HACKATHON</a:t>
            </a:r>
          </a:p>
          <a:p>
            <a:pPr algn="l"/>
            <a:r>
              <a:rPr sz="1100" b="1">
                <a:solidFill>
                  <a:srgbClr val="000080"/>
                </a:solidFill>
                <a:latin typeface="Arial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373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@SIH Idea Submission - KisanConnect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7336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Arial"/>
              </a:rPr>
              <a:t>Proposed Solution — KisanConnect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17904"/>
            <a:ext cx="1124712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27632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•  </a:t>
            </a:r>
            <a:r>
              <a:rPr sz="1600">
                <a:solidFill>
                  <a:srgbClr val="262626"/>
                </a:solidFill>
                <a:latin typeface="Arial"/>
              </a:rPr>
              <a:t>KisanConnect is a full-stack digital marketplace that connects Indian farmers DIRECTLY with buyers (households, retailers, restaurants) — eliminating all middlemen.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•  </a:t>
            </a:r>
            <a:r>
              <a:rPr sz="1600">
                <a:solidFill>
                  <a:srgbClr val="262626"/>
                </a:solidFill>
                <a:latin typeface="Arial"/>
              </a:rPr>
              <a:t>Farmers list their crops (name, quantity, harvest date, photo, price) on a dashboard. Listings go live immediately and are visible to all buyers across India.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•  </a:t>
            </a:r>
            <a:r>
              <a:rPr sz="1600">
                <a:solidFill>
                  <a:srgbClr val="262626"/>
                </a:solidFill>
                <a:latin typeface="Arial"/>
              </a:rPr>
              <a:t>Buyers browse, filter, and order farm-fresh produce at prices 25-35% lower than traditional retail — because no commission agent or broker is involved.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•  </a:t>
            </a:r>
            <a:r>
              <a:rPr sz="1600">
                <a:solidFill>
                  <a:srgbClr val="262626"/>
                </a:solidFill>
                <a:latin typeface="Arial"/>
              </a:rPr>
              <a:t>The platform supports 8 Indian languages (Hindi, Marathi, Punjabi, Telugu, Tamil, Bengali, Kannada, English) ensuring every farmer can use it in their mother tongue.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600">
                <a:solidFill>
                  <a:srgbClr val="262626"/>
                </a:solidFill>
                <a:latin typeface="Arial"/>
              </a:rPr>
              <a:t>•  </a:t>
            </a:r>
            <a:r>
              <a:rPr sz="1600">
                <a:solidFill>
                  <a:srgbClr val="262626"/>
                </a:solidFill>
                <a:latin typeface="Arial"/>
              </a:rPr>
              <a:t>Innovation: Price Transparency Widget that visually shows farmer payout vs. the traditional APMC middleman chain — building trust between farmers and consumers.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109728"/>
            <a:ext cx="1417320" cy="7498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Arial"/>
              </a:rPr>
              <a:t>Ajay Juneja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Arial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91440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02368" y="100584"/>
            <a:ext cx="548640" cy="777240"/>
          </a:xfrm>
          <a:prstGeom prst="rect">
            <a:avLst/>
          </a:prstGeom>
          <a:solidFill>
            <a:srgbClr val="FFE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2368" y="2560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7584" y="100584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SMART INDIA</a:t>
            </a:r>
          </a:p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HACKATHON</a:t>
            </a:r>
          </a:p>
          <a:p>
            <a:pPr algn="l"/>
            <a:r>
              <a:rPr sz="1100" b="1">
                <a:solidFill>
                  <a:srgbClr val="000080"/>
                </a:solidFill>
                <a:latin typeface="Arial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373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@SIH Idea Submission - KisanConnect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7336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Arial"/>
              </a:rPr>
              <a:t>Technologies Used &amp; Implementation Methodology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17904"/>
            <a:ext cx="1124712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27632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Frontend: Next.js 14 (App Router) + TypeScript + Tailwind CSS — 9 pages including Marketplace, Farmer Dashboard, Order Tracking, Admin Panel, Checkout.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Backend: Node.js + Express.js REST API running on Port 5000 with JWT Authentication, BCrypt password hashing, and role-based access control (FARMER / BUYER / ADMIN).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Database: Prisma ORM + SQLite — 4 models: User, Produce, Order, Hub. Zero-installation database (single file dev.db). Ready for PostgreSQL in production.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Multi-Language i18n: Custom React Context with 80+ translated strings per language across 8 Indian languages. No external library. Saved to localStorage.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File Uploads: Multer middleware for crop photo uploads stored in backend/uploads/.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Architecture: Monorepo — frontend + backend in one repository. Single command startup (npm run dev) launches both servers simultaneously.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109728"/>
            <a:ext cx="1417320" cy="7498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Arial"/>
              </a:rPr>
              <a:t>Ajay Juneja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Arial"/>
              </a:rPr>
              <a:t>FEASIBILITY AND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91440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02368" y="100584"/>
            <a:ext cx="548640" cy="777240"/>
          </a:xfrm>
          <a:prstGeom prst="rect">
            <a:avLst/>
          </a:prstGeom>
          <a:solidFill>
            <a:srgbClr val="FFE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2368" y="2560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7584" y="100584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SMART INDIA</a:t>
            </a:r>
          </a:p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HACKATHON</a:t>
            </a:r>
          </a:p>
          <a:p>
            <a:pPr algn="l"/>
            <a:r>
              <a:rPr sz="1100" b="1">
                <a:solidFill>
                  <a:srgbClr val="000080"/>
                </a:solidFill>
                <a:latin typeface="Arial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373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@SIH Idea Submission - KisanConnect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7336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Arial"/>
              </a:rPr>
              <a:t>Analysis, Challenges &amp; Mitigation Strategies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17904"/>
            <a:ext cx="1124712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27632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50">
                <a:solidFill>
                  <a:srgbClr val="262626"/>
                </a:solidFill>
                <a:latin typeface="Arial"/>
              </a:rPr>
              <a:t>•  </a:t>
            </a:r>
            <a:r>
              <a:rPr sz="1450">
                <a:solidFill>
                  <a:srgbClr val="262626"/>
                </a:solidFill>
                <a:latin typeface="Arial"/>
              </a:rPr>
              <a:t>TECHNICAL FEASIBILITY: The entire stack (Next.js, Express, SQLite, Prisma) is open-source, well-documented, and runs on any machine without paid services. Working prototype is live and tested.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50">
                <a:solidFill>
                  <a:srgbClr val="262626"/>
                </a:solidFill>
                <a:latin typeface="Arial"/>
              </a:rPr>
              <a:t>•  </a:t>
            </a:r>
            <a:r>
              <a:rPr sz="1450">
                <a:solidFill>
                  <a:srgbClr val="262626"/>
                </a:solidFill>
                <a:latin typeface="Arial"/>
              </a:rPr>
              <a:t>ECONOMIC VIABILITY: No infrastructure cost during hackathon phase (SQLite, free hosting). Revenue model: 2-3% platform fee on each transaction — far lower than the 40-60% middlemen currently take from farmers.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50">
                <a:solidFill>
                  <a:srgbClr val="262626"/>
                </a:solidFill>
                <a:latin typeface="Arial"/>
              </a:rPr>
              <a:t>•  </a:t>
            </a:r>
            <a:r>
              <a:rPr sz="1450">
                <a:solidFill>
                  <a:srgbClr val="262626"/>
                </a:solidFill>
                <a:latin typeface="Arial"/>
              </a:rPr>
              <a:t>CHALLENGE — Digital Literacy: Many farmers are not digitally literate. SOLUTION: 8-language support, voice-ready interface planned, WhatsApp integration for order notifications in next phase.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50">
                <a:solidFill>
                  <a:srgbClr val="262626"/>
                </a:solidFill>
                <a:latin typeface="Arial"/>
              </a:rPr>
              <a:t>•  </a:t>
            </a:r>
            <a:r>
              <a:rPr sz="1450">
                <a:solidFill>
                  <a:srgbClr val="262626"/>
                </a:solidFill>
                <a:latin typeface="Arial"/>
              </a:rPr>
              <a:t>CHALLENGE — Internet Connectivity: Rural areas may have poor connectivity. SOLUTION: Lightweight frontend, fast API responses, offline-first PWA planned for v2.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50">
                <a:solidFill>
                  <a:srgbClr val="262626"/>
                </a:solidFill>
                <a:latin typeface="Arial"/>
              </a:rPr>
              <a:t>•  </a:t>
            </a:r>
            <a:r>
              <a:rPr sz="1450">
                <a:solidFill>
                  <a:srgbClr val="262626"/>
                </a:solidFill>
                <a:latin typeface="Arial"/>
              </a:rPr>
              <a:t>CHALLENGE — Trust &amp; Adoption: Farmers may be skeptical of new platforms. SOLUTION: Transparent price widget, direct bank payout proof, and hub partner network to build physical trust.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50">
                <a:solidFill>
                  <a:srgbClr val="262626"/>
                </a:solidFill>
                <a:latin typeface="Arial"/>
              </a:rPr>
              <a:t>•  </a:t>
            </a:r>
            <a:r>
              <a:rPr sz="1450">
                <a:solidFill>
                  <a:srgbClr val="262626"/>
                </a:solidFill>
                <a:latin typeface="Arial"/>
              </a:rPr>
              <a:t>SCALABILITY: Architecture is stateless (JWT) and database-agnostic (Prisma) — can scale from 100 to 1 million users by switching to PostgreSQL + cloud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109728"/>
            <a:ext cx="1417320" cy="7498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Arial"/>
              </a:rPr>
              <a:t>Ajay Juneja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Arial"/>
              </a:rP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91440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02368" y="100584"/>
            <a:ext cx="548640" cy="777240"/>
          </a:xfrm>
          <a:prstGeom prst="rect">
            <a:avLst/>
          </a:prstGeom>
          <a:solidFill>
            <a:srgbClr val="FFE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2368" y="2560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7584" y="100584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SMART INDIA</a:t>
            </a:r>
          </a:p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HACKATHON</a:t>
            </a:r>
          </a:p>
          <a:p>
            <a:pPr algn="l"/>
            <a:r>
              <a:rPr sz="1100" b="1">
                <a:solidFill>
                  <a:srgbClr val="000080"/>
                </a:solidFill>
                <a:latin typeface="Arial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373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@SIH Idea Submission - KisanConnect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7336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Arial"/>
              </a:rPr>
              <a:t>Potential Impact on Target Audience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17904"/>
            <a:ext cx="1124712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27632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SOCIAL IMPACT: Directly benefits 146 million Indian farming families by eliminating exploitative middlemen. Farmers earn 40-60% MORE per kilogram of produce sold.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ECONOMIC IMPACT: Reduces consumer prices by 25-35% compared to retail markets while simultaneously increasing farmer income. Both sides of the supply chain win.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ENVIRONMENTAL IMPACT: Fewer supply chain links = fewer truck trips = lower carbon footprint per kg of food delivered. Fresh produce also reduces food waste from multi-day storage in traditional chains.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INCLUSIVITY: 8 Indian language support ensures the platform is accessible to farmers from Maharashtra, Punjab, Andhra Pradesh, Tamil Nadu, West Bengal, Karnataka — not just English-speaking urban users.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GOVERNMENT ALIGNMENT: Directly supports PM-KISAN, e-NAM (National Agriculture Market), and the vision of doubling farmer income by 2026 as outlined in Union Budget 2024.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500">
                <a:solidFill>
                  <a:srgbClr val="262626"/>
                </a:solidFill>
                <a:latin typeface="Arial"/>
              </a:rPr>
              <a:t>•  </a:t>
            </a:r>
            <a:r>
              <a:rPr sz="1500">
                <a:solidFill>
                  <a:srgbClr val="262626"/>
                </a:solidFill>
                <a:latin typeface="Arial"/>
              </a:rPr>
              <a:t>SCALABILITY IMPACT: If scaled to 1% of India's 600 million agricultural workers, KisanConnect could add Rs. 50,000 crore in direct farmer income annually.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109728"/>
            <a:ext cx="1417320" cy="7498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Arial"/>
              </a:rPr>
              <a:t>Ajay Juneja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Arial"/>
              </a:rPr>
              <a:t>RESEARCH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91440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02368" y="100584"/>
            <a:ext cx="548640" cy="777240"/>
          </a:xfrm>
          <a:prstGeom prst="rect">
            <a:avLst/>
          </a:prstGeom>
          <a:solidFill>
            <a:srgbClr val="FFE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2368" y="2560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7584" y="100584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SMART INDIA</a:t>
            </a:r>
          </a:p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HACKATHON</a:t>
            </a:r>
          </a:p>
          <a:p>
            <a:pPr algn="l"/>
            <a:r>
              <a:rPr sz="1100" b="1">
                <a:solidFill>
                  <a:srgbClr val="000080"/>
                </a:solidFill>
                <a:latin typeface="Arial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373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@SIH Idea Submission - KisanConnect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7336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Arial"/>
              </a:rPr>
              <a:t>Details / Links of Reference and Research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17904"/>
            <a:ext cx="1124712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27632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400">
                <a:solidFill>
                  <a:srgbClr val="262626"/>
                </a:solidFill>
                <a:latin typeface="Arial"/>
              </a:rPr>
              <a:t>•  </a:t>
            </a:r>
            <a:r>
              <a:rPr sz="1400">
                <a:solidFill>
                  <a:srgbClr val="262626"/>
                </a:solidFill>
                <a:latin typeface="Arial"/>
              </a:rPr>
              <a:t>NITI Aayog Report (2022): 'Doubling Farmers Income' — documents the 40-60% loss in farmer income due to multi-level APMC commission agents. Source: niti.gov.in/sites/default/files/2022-05/AnnualReport_2022-23.pdf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400">
                <a:solidFill>
                  <a:srgbClr val="262626"/>
                </a:solidFill>
                <a:latin typeface="Arial"/>
              </a:rPr>
              <a:t>•  </a:t>
            </a:r>
            <a:r>
              <a:rPr sz="1400">
                <a:solidFill>
                  <a:srgbClr val="262626"/>
                </a:solidFill>
                <a:latin typeface="Arial"/>
              </a:rPr>
              <a:t>Ministry of Agriculture &amp; Farmers Welfare: e-NAM (National Agriculture Market) portal — government initiative to digitise APMC mandis. Reference: enam.gov.in — KisanConnect complements e-NAM with direct B2C channel.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400">
                <a:solidFill>
                  <a:srgbClr val="262626"/>
                </a:solidFill>
                <a:latin typeface="Arial"/>
              </a:rPr>
              <a:t>•  </a:t>
            </a:r>
            <a:r>
              <a:rPr sz="1400">
                <a:solidFill>
                  <a:srgbClr val="262626"/>
                </a:solidFill>
                <a:latin typeface="Arial"/>
              </a:rPr>
              <a:t>GitHub Repository: Complete source code of KisanConnect is publicly available. URL: github.com/AjayJuneja14/KisanConnect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400">
                <a:solidFill>
                  <a:srgbClr val="262626"/>
                </a:solidFill>
                <a:latin typeface="Arial"/>
              </a:rPr>
              <a:t>•  </a:t>
            </a:r>
            <a:r>
              <a:rPr sz="1400">
                <a:solidFill>
                  <a:srgbClr val="262626"/>
                </a:solidFill>
                <a:latin typeface="Arial"/>
              </a:rPr>
              <a:t>World Bank Report (2023): 'India Agriculture: Connecting Smallholder Farmers to Markets' — validates the need for direct digital market linkages. Source: worldbank.org/en/country/india/publication/india-agriculture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400">
                <a:solidFill>
                  <a:srgbClr val="262626"/>
                </a:solidFill>
                <a:latin typeface="Arial"/>
              </a:rPr>
              <a:t>•  </a:t>
            </a:r>
            <a:r>
              <a:rPr sz="1400">
                <a:solidFill>
                  <a:srgbClr val="262626"/>
                </a:solidFill>
                <a:latin typeface="Arial"/>
              </a:rPr>
              <a:t>PM-KISAN Portal: pm-kisan.gov.in — government direct income support scheme. KisanConnect extends this by providing market access, not just income support.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400">
                <a:solidFill>
                  <a:srgbClr val="262626"/>
                </a:solidFill>
                <a:latin typeface="Arial"/>
              </a:rPr>
              <a:t>•  </a:t>
            </a:r>
            <a:r>
              <a:rPr sz="1400">
                <a:solidFill>
                  <a:srgbClr val="262626"/>
                </a:solidFill>
                <a:latin typeface="Arial"/>
              </a:rPr>
              <a:t>Technology Stack Documentation: nextjs.org | prisma.io | expressjs.com | tailwindcss.com — all open-source, actively maintained frameworks used in this project.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" y="109728"/>
            <a:ext cx="1417320" cy="7498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Arial"/>
              </a:rPr>
              <a:t>Ajay Juneja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Arial"/>
              </a:rPr>
              <a:t>TEAM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91440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02368" y="100584"/>
            <a:ext cx="548640" cy="777240"/>
          </a:xfrm>
          <a:prstGeom prst="rect">
            <a:avLst/>
          </a:prstGeom>
          <a:solidFill>
            <a:srgbClr val="FFE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02368" y="2560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00"/>
                </a:solidFill>
                <a:latin typeface="Arial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7584" y="100584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SMART INDIA</a:t>
            </a:r>
          </a:p>
          <a:p>
            <a:pPr algn="l"/>
            <a:r>
              <a:rPr sz="850" b="1">
                <a:solidFill>
                  <a:srgbClr val="FF6B00"/>
                </a:solidFill>
                <a:latin typeface="Arial"/>
              </a:rPr>
              <a:t>HACKATHON</a:t>
            </a:r>
          </a:p>
          <a:p>
            <a:pPr algn="l"/>
            <a:r>
              <a:rPr sz="1100" b="1">
                <a:solidFill>
                  <a:srgbClr val="000080"/>
                </a:solidFill>
                <a:latin typeface="Arial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373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@SIH Idea Submission - KisanConnect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7336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Arial"/>
              </a:rPr>
              <a:t>Team Information &amp; Project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17904"/>
            <a:ext cx="1124712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50">
                <a:solidFill>
                  <a:srgbClr val="262626"/>
                </a:solidFill>
                <a:latin typeface="Arial"/>
              </a:rPr>
              <a:t>•  </a:t>
            </a:r>
            <a:r>
              <a:rPr sz="1650">
                <a:solidFill>
                  <a:srgbClr val="262626"/>
                </a:solidFill>
                <a:latin typeface="Arial"/>
              </a:rPr>
              <a:t>Team Name:                  KisanConnect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50">
                <a:solidFill>
                  <a:srgbClr val="262626"/>
                </a:solidFill>
                <a:latin typeface="Arial"/>
              </a:rPr>
              <a:t>•  </a:t>
            </a:r>
            <a:r>
              <a:rPr sz="1650">
                <a:solidFill>
                  <a:srgbClr val="262626"/>
                </a:solidFill>
                <a:latin typeface="Arial"/>
              </a:rPr>
              <a:t>Team Leader:                Ajay Juneja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50">
                <a:solidFill>
                  <a:srgbClr val="262626"/>
                </a:solidFill>
                <a:latin typeface="Arial"/>
              </a:rPr>
              <a:t>•  </a:t>
            </a:r>
            <a:r>
              <a:rPr sz="1650">
                <a:solidFill>
                  <a:srgbClr val="262626"/>
                </a:solidFill>
                <a:latin typeface="Arial"/>
              </a:rPr>
              <a:t>Email:                          ajayjuneja1407@gmail.com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50">
                <a:solidFill>
                  <a:srgbClr val="262626"/>
                </a:solidFill>
                <a:latin typeface="Arial"/>
              </a:rPr>
              <a:t>•  </a:t>
            </a:r>
            <a:r>
              <a:rPr sz="1650">
                <a:solidFill>
                  <a:srgbClr val="262626"/>
                </a:solidFill>
                <a:latin typeface="Arial"/>
              </a:rPr>
              <a:t>Problem Statement:      Direct Market Linkage for Farmers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50">
                <a:solidFill>
                  <a:srgbClr val="262626"/>
                </a:solidFill>
                <a:latin typeface="Arial"/>
              </a:rPr>
              <a:t>•  </a:t>
            </a:r>
            <a:r>
              <a:rPr sz="1650">
                <a:solidFill>
                  <a:srgbClr val="262626"/>
                </a:solidFill>
                <a:latin typeface="Arial"/>
              </a:rPr>
              <a:t>Theme:                          Agriculture &amp; Rural Development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50">
                <a:solidFill>
                  <a:srgbClr val="262626"/>
                </a:solidFill>
                <a:latin typeface="Arial"/>
              </a:rPr>
              <a:t>•  </a:t>
            </a:r>
            <a:r>
              <a:rPr sz="1650">
                <a:solidFill>
                  <a:srgbClr val="262626"/>
                </a:solidFill>
                <a:latin typeface="Arial"/>
              </a:rPr>
              <a:t>GitHub Repository:       github.com/AjayJuneja14/KisanConnect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50">
                <a:solidFill>
                  <a:srgbClr val="262626"/>
                </a:solidFill>
                <a:latin typeface="Arial"/>
              </a:rPr>
              <a:t>•  </a:t>
            </a:r>
            <a:r>
              <a:rPr sz="1650">
                <a:solidFill>
                  <a:srgbClr val="262626"/>
                </a:solidFill>
                <a:latin typeface="Arial"/>
              </a:rPr>
              <a:t>Live Demo (Local):        http://localhost:3000  (npm run dev from root folder)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50">
                <a:solidFill>
                  <a:srgbClr val="262626"/>
                </a:solidFill>
                <a:latin typeface="Arial"/>
              </a:rPr>
              <a:t>•  </a:t>
            </a:r>
            <a:r>
              <a:rPr sz="1650">
                <a:solidFill>
                  <a:srgbClr val="262626"/>
                </a:solidFill>
                <a:latin typeface="Arial"/>
              </a:rPr>
              <a:t>Tech Stack:                   Next.js 14 | Express.js | Prisma | SQLite | TypeScript | Tailwind CSS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