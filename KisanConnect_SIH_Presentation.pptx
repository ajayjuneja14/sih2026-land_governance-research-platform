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4E3B"/>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9144000" cy="1097280"/>
          </a:xfrm>
          <a:prstGeom prst="rect">
            <a:avLst/>
          </a:prstGeom>
          <a:noFill/>
        </p:spPr>
        <p:txBody>
          <a:bodyPr wrap="square">
            <a:spAutoFit/>
          </a:bodyPr>
          <a:lstStyle/>
          <a:p>
            <a:pPr algn="l"/>
            <a:r>
              <a:rPr sz="5400" b="1" i="0">
                <a:solidFill>
                  <a:srgbClr val="FFFFFF"/>
                </a:solidFill>
              </a:rPr>
              <a:t>🌾 KisanConnect</a:t>
            </a:r>
          </a:p>
        </p:txBody>
      </p:sp>
      <p:sp>
        <p:nvSpPr>
          <p:cNvPr id="4" name="TextBox 3"/>
          <p:cNvSpPr txBox="1"/>
          <p:nvPr/>
        </p:nvSpPr>
        <p:spPr>
          <a:xfrm>
            <a:off x="640080" y="2103120"/>
            <a:ext cx="9144000" cy="640080"/>
          </a:xfrm>
          <a:prstGeom prst="rect">
            <a:avLst/>
          </a:prstGeom>
          <a:noFill/>
        </p:spPr>
        <p:txBody>
          <a:bodyPr wrap="square">
            <a:spAutoFit/>
          </a:bodyPr>
          <a:lstStyle/>
          <a:p>
            <a:pPr algn="l"/>
            <a:r>
              <a:rPr sz="2200" b="0" i="0">
                <a:solidFill>
                  <a:srgbClr val="A7F3D0"/>
                </a:solidFill>
              </a:rPr>
              <a:t>Farmer-to-Consumer Direct Agricultural Marketplace</a:t>
            </a:r>
          </a:p>
        </p:txBody>
      </p:sp>
      <p:sp>
        <p:nvSpPr>
          <p:cNvPr id="5" name="Rectangle 4"/>
          <p:cNvSpPr/>
          <p:nvPr/>
        </p:nvSpPr>
        <p:spPr>
          <a:xfrm>
            <a:off x="594360" y="2926080"/>
            <a:ext cx="105156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108960"/>
            <a:ext cx="9144000" cy="914400"/>
          </a:xfrm>
          <a:prstGeom prst="rect">
            <a:avLst/>
          </a:prstGeom>
          <a:noFill/>
        </p:spPr>
        <p:txBody>
          <a:bodyPr wrap="square">
            <a:spAutoFit/>
          </a:bodyPr>
          <a:lstStyle/>
          <a:p>
            <a:pPr algn="l"/>
            <a:r>
              <a:rPr sz="1500" b="0" i="0">
                <a:solidFill>
                  <a:srgbClr val="D1FAE5"/>
                </a:solidFill>
              </a:rPr>
              <a:t>Eliminating middlemen • Transparent pricing • Empowering Indian farmers
Built for Smart India Hackathon 2024</a:t>
            </a:r>
          </a:p>
        </p:txBody>
      </p:sp>
      <p:sp>
        <p:nvSpPr>
          <p:cNvPr id="7" name="Rectangle 6"/>
          <p:cNvSpPr/>
          <p:nvPr/>
        </p:nvSpPr>
        <p:spPr>
          <a:xfrm>
            <a:off x="640080" y="4754880"/>
            <a:ext cx="2286000" cy="1371600"/>
          </a:xfrm>
          <a:prstGeom prst="rect">
            <a:avLst/>
          </a:prstGeom>
          <a:solidFill>
            <a:srgbClr val="064E3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4846320"/>
            <a:ext cx="2103120" cy="640080"/>
          </a:xfrm>
          <a:prstGeom prst="rect">
            <a:avLst/>
          </a:prstGeom>
          <a:noFill/>
        </p:spPr>
        <p:txBody>
          <a:bodyPr wrap="square">
            <a:spAutoFit/>
          </a:bodyPr>
          <a:lstStyle/>
          <a:p>
            <a:pPr algn="ctr"/>
            <a:r>
              <a:rPr sz="3000" b="1" i="0">
                <a:solidFill>
                  <a:srgbClr val="F59E0B"/>
                </a:solidFill>
              </a:rPr>
              <a:t>100%</a:t>
            </a:r>
          </a:p>
        </p:txBody>
      </p:sp>
      <p:sp>
        <p:nvSpPr>
          <p:cNvPr id="9" name="TextBox 8"/>
          <p:cNvSpPr txBox="1"/>
          <p:nvPr/>
        </p:nvSpPr>
        <p:spPr>
          <a:xfrm>
            <a:off x="731519" y="5532120"/>
            <a:ext cx="2103120" cy="457200"/>
          </a:xfrm>
          <a:prstGeom prst="rect">
            <a:avLst/>
          </a:prstGeom>
          <a:noFill/>
        </p:spPr>
        <p:txBody>
          <a:bodyPr wrap="square">
            <a:spAutoFit/>
          </a:bodyPr>
          <a:lstStyle/>
          <a:p>
            <a:pPr algn="ctr"/>
            <a:r>
              <a:rPr sz="1100" b="0" i="0">
                <a:solidFill>
                  <a:srgbClr val="FFFFFF"/>
                </a:solidFill>
              </a:rPr>
              <a:t>Direct Farmer Payout</a:t>
            </a:r>
          </a:p>
        </p:txBody>
      </p:sp>
      <p:sp>
        <p:nvSpPr>
          <p:cNvPr id="10" name="Rectangle 9"/>
          <p:cNvSpPr/>
          <p:nvPr/>
        </p:nvSpPr>
        <p:spPr>
          <a:xfrm>
            <a:off x="3108960" y="4754880"/>
            <a:ext cx="2286000" cy="1371600"/>
          </a:xfrm>
          <a:prstGeom prst="rect">
            <a:avLst/>
          </a:prstGeom>
          <a:solidFill>
            <a:srgbClr val="064E3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4846320"/>
            <a:ext cx="2103120" cy="640080"/>
          </a:xfrm>
          <a:prstGeom prst="rect">
            <a:avLst/>
          </a:prstGeom>
          <a:noFill/>
        </p:spPr>
        <p:txBody>
          <a:bodyPr wrap="square">
            <a:spAutoFit/>
          </a:bodyPr>
          <a:lstStyle/>
          <a:p>
            <a:pPr algn="ctr"/>
            <a:r>
              <a:rPr sz="3000" b="1" i="0">
                <a:solidFill>
                  <a:srgbClr val="34D399"/>
                </a:solidFill>
              </a:rPr>
              <a:t>0%</a:t>
            </a:r>
          </a:p>
        </p:txBody>
      </p:sp>
      <p:sp>
        <p:nvSpPr>
          <p:cNvPr id="12" name="TextBox 11"/>
          <p:cNvSpPr txBox="1"/>
          <p:nvPr/>
        </p:nvSpPr>
        <p:spPr>
          <a:xfrm>
            <a:off x="3200400" y="5532120"/>
            <a:ext cx="2103120" cy="457200"/>
          </a:xfrm>
          <a:prstGeom prst="rect">
            <a:avLst/>
          </a:prstGeom>
          <a:noFill/>
        </p:spPr>
        <p:txBody>
          <a:bodyPr wrap="square">
            <a:spAutoFit/>
          </a:bodyPr>
          <a:lstStyle/>
          <a:p>
            <a:pPr algn="ctr"/>
            <a:r>
              <a:rPr sz="1100" b="0" i="0">
                <a:solidFill>
                  <a:srgbClr val="FFFFFF"/>
                </a:solidFill>
              </a:rPr>
              <a:t>Middleman Commission</a:t>
            </a:r>
          </a:p>
        </p:txBody>
      </p:sp>
      <p:sp>
        <p:nvSpPr>
          <p:cNvPr id="13" name="Rectangle 12"/>
          <p:cNvSpPr/>
          <p:nvPr/>
        </p:nvSpPr>
        <p:spPr>
          <a:xfrm>
            <a:off x="5577840" y="4754880"/>
            <a:ext cx="2286000" cy="1371600"/>
          </a:xfrm>
          <a:prstGeom prst="rect">
            <a:avLst/>
          </a:prstGeom>
          <a:solidFill>
            <a:srgbClr val="064E3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79" y="4846320"/>
            <a:ext cx="2103120" cy="640080"/>
          </a:xfrm>
          <a:prstGeom prst="rect">
            <a:avLst/>
          </a:prstGeom>
          <a:noFill/>
        </p:spPr>
        <p:txBody>
          <a:bodyPr wrap="square">
            <a:spAutoFit/>
          </a:bodyPr>
          <a:lstStyle/>
          <a:p>
            <a:pPr algn="ctr"/>
            <a:r>
              <a:rPr sz="3000" b="1" i="0">
                <a:solidFill>
                  <a:srgbClr val="F59E0B"/>
                </a:solidFill>
              </a:rPr>
              <a:t>8</a:t>
            </a:r>
          </a:p>
        </p:txBody>
      </p:sp>
      <p:sp>
        <p:nvSpPr>
          <p:cNvPr id="15" name="TextBox 14"/>
          <p:cNvSpPr txBox="1"/>
          <p:nvPr/>
        </p:nvSpPr>
        <p:spPr>
          <a:xfrm>
            <a:off x="5669279" y="5532120"/>
            <a:ext cx="2103120" cy="457200"/>
          </a:xfrm>
          <a:prstGeom prst="rect">
            <a:avLst/>
          </a:prstGeom>
          <a:noFill/>
        </p:spPr>
        <p:txBody>
          <a:bodyPr wrap="square">
            <a:spAutoFit/>
          </a:bodyPr>
          <a:lstStyle/>
          <a:p>
            <a:pPr algn="ctr"/>
            <a:r>
              <a:rPr sz="1100" b="0" i="0">
                <a:solidFill>
                  <a:srgbClr val="FFFFFF"/>
                </a:solidFill>
              </a:rPr>
              <a:t>Languages Supported</a:t>
            </a:r>
          </a:p>
        </p:txBody>
      </p:sp>
      <p:sp>
        <p:nvSpPr>
          <p:cNvPr id="16" name="Rectangle 15"/>
          <p:cNvSpPr/>
          <p:nvPr/>
        </p:nvSpPr>
        <p:spPr>
          <a:xfrm>
            <a:off x="8046720" y="4754880"/>
            <a:ext cx="2286000" cy="1371600"/>
          </a:xfrm>
          <a:prstGeom prst="rect">
            <a:avLst/>
          </a:prstGeom>
          <a:solidFill>
            <a:srgbClr val="064E3B"/>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4846320"/>
            <a:ext cx="2103120" cy="640080"/>
          </a:xfrm>
          <a:prstGeom prst="rect">
            <a:avLst/>
          </a:prstGeom>
          <a:noFill/>
        </p:spPr>
        <p:txBody>
          <a:bodyPr wrap="square">
            <a:spAutoFit/>
          </a:bodyPr>
          <a:lstStyle/>
          <a:p>
            <a:pPr algn="ctr"/>
            <a:r>
              <a:rPr sz="3000" b="1" i="0">
                <a:solidFill>
                  <a:srgbClr val="F59E0B"/>
                </a:solidFill>
              </a:rPr>
              <a:t>10+</a:t>
            </a:r>
          </a:p>
        </p:txBody>
      </p:sp>
      <p:sp>
        <p:nvSpPr>
          <p:cNvPr id="18" name="TextBox 17"/>
          <p:cNvSpPr txBox="1"/>
          <p:nvPr/>
        </p:nvSpPr>
        <p:spPr>
          <a:xfrm>
            <a:off x="8138160" y="5532120"/>
            <a:ext cx="2103120" cy="457200"/>
          </a:xfrm>
          <a:prstGeom prst="rect">
            <a:avLst/>
          </a:prstGeom>
          <a:noFill/>
        </p:spPr>
        <p:txBody>
          <a:bodyPr wrap="square">
            <a:spAutoFit/>
          </a:bodyPr>
          <a:lstStyle/>
          <a:p>
            <a:pPr algn="ctr"/>
            <a:r>
              <a:rPr sz="1100" b="0" i="0">
                <a:solidFill>
                  <a:srgbClr val="FFFFFF"/>
                </a:solidFill>
              </a:rPr>
              <a:t>Live Crop Listings</a:t>
            </a:r>
          </a:p>
        </p:txBody>
      </p:sp>
      <p:sp>
        <p:nvSpPr>
          <p:cNvPr id="19" name="Rectangle 18"/>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822960"/>
          </a:xfrm>
          <a:prstGeom prst="rect">
            <a:avLst/>
          </a:prstGeom>
          <a:noFill/>
        </p:spPr>
        <p:txBody>
          <a:bodyPr wrap="square">
            <a:spAutoFit/>
          </a:bodyPr>
          <a:lstStyle/>
          <a:p>
            <a:pPr algn="l"/>
            <a:r>
              <a:rPr sz="3000" b="1" i="0">
                <a:solidFill>
                  <a:srgbClr val="FFFFFF"/>
                </a:solidFill>
              </a:rPr>
              <a:t>The Problem</a:t>
            </a: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548640" y="1143000"/>
            <a:ext cx="10972800" cy="914400"/>
          </a:xfrm>
          <a:prstGeom prst="rect">
            <a:avLst/>
          </a:prstGeom>
          <a:noFill/>
        </p:spPr>
        <p:txBody>
          <a:bodyPr wrap="square">
            <a:spAutoFit/>
          </a:bodyPr>
          <a:lstStyle/>
          <a:p>
            <a:pPr algn="l"/>
            <a:r>
              <a:rPr sz="1400" b="0" i="0">
                <a:solidFill>
                  <a:srgbClr val="1F2937"/>
                </a:solidFill>
              </a:rPr>
              <a:t>Indian agriculture suffers from a deeply broken supply chain. Farmers who grow our food earn the least while consumers pay the most — because 4 to 6 layers of middlemen sit between the farm and your plate, each taking a cut. This kills farmer income and inflates consumer prices.</a:t>
            </a:r>
          </a:p>
        </p:txBody>
      </p:sp>
      <p:sp>
        <p:nvSpPr>
          <p:cNvPr id="7" name="Rectangle 6"/>
          <p:cNvSpPr/>
          <p:nvPr/>
        </p:nvSpPr>
        <p:spPr>
          <a:xfrm>
            <a:off x="594360" y="2194560"/>
            <a:ext cx="10972800" cy="36576"/>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331720"/>
            <a:ext cx="3566160" cy="41148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468880"/>
            <a:ext cx="3291840" cy="822960"/>
          </a:xfrm>
          <a:prstGeom prst="rect">
            <a:avLst/>
          </a:prstGeom>
          <a:noFill/>
        </p:spPr>
        <p:txBody>
          <a:bodyPr wrap="square">
            <a:spAutoFit/>
          </a:bodyPr>
          <a:lstStyle/>
          <a:p>
            <a:pPr algn="l"/>
            <a:r>
              <a:rPr sz="1500" b="1" i="0">
                <a:solidFill>
                  <a:srgbClr val="FFFFFF"/>
                </a:solidFill>
              </a:rPr>
              <a:t>💸 60% Lost
to Middlemen</a:t>
            </a:r>
          </a:p>
        </p:txBody>
      </p:sp>
      <p:sp>
        <p:nvSpPr>
          <p:cNvPr id="10" name="TextBox 9"/>
          <p:cNvSpPr txBox="1"/>
          <p:nvPr/>
        </p:nvSpPr>
        <p:spPr>
          <a:xfrm>
            <a:off x="594360" y="3337560"/>
            <a:ext cx="3291840" cy="2926080"/>
          </a:xfrm>
          <a:prstGeom prst="rect">
            <a:avLst/>
          </a:prstGeom>
          <a:noFill/>
        </p:spPr>
        <p:txBody>
          <a:bodyPr wrap="square">
            <a:spAutoFit/>
          </a:bodyPr>
          <a:lstStyle/>
          <a:p>
            <a:pPr algn="l"/>
            <a:r>
              <a:rPr sz="1100" b="0" i="0">
                <a:solidFill>
                  <a:srgbClr val="D1FAE5"/>
                </a:solidFill>
              </a:rPr>
              <a:t>In the traditional APMC mandi system, brokers, commission agents, transporters, and wholesalers take up to 60% of the final selling price. The farmer receives as little as ₹8 per kg of tomatoes while the consumer pays ₹40 at retail.</a:t>
            </a:r>
          </a:p>
        </p:txBody>
      </p:sp>
      <p:sp>
        <p:nvSpPr>
          <p:cNvPr id="11" name="Rectangle 10"/>
          <p:cNvSpPr/>
          <p:nvPr/>
        </p:nvSpPr>
        <p:spPr>
          <a:xfrm>
            <a:off x="4297680" y="2331720"/>
            <a:ext cx="3566160" cy="4114800"/>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2468880"/>
            <a:ext cx="3291840" cy="822960"/>
          </a:xfrm>
          <a:prstGeom prst="rect">
            <a:avLst/>
          </a:prstGeom>
          <a:noFill/>
        </p:spPr>
        <p:txBody>
          <a:bodyPr wrap="square">
            <a:spAutoFit/>
          </a:bodyPr>
          <a:lstStyle/>
          <a:p>
            <a:pPr algn="l"/>
            <a:r>
              <a:rPr sz="1500" b="1" i="0">
                <a:solidFill>
                  <a:srgbClr val="FFFFFF"/>
                </a:solidFill>
              </a:rPr>
              <a:t>📉 Low Farmer Income</a:t>
            </a:r>
          </a:p>
        </p:txBody>
      </p:sp>
      <p:sp>
        <p:nvSpPr>
          <p:cNvPr id="13" name="TextBox 12"/>
          <p:cNvSpPr txBox="1"/>
          <p:nvPr/>
        </p:nvSpPr>
        <p:spPr>
          <a:xfrm>
            <a:off x="4434840" y="3337560"/>
            <a:ext cx="3291840" cy="2926080"/>
          </a:xfrm>
          <a:prstGeom prst="rect">
            <a:avLst/>
          </a:prstGeom>
          <a:noFill/>
        </p:spPr>
        <p:txBody>
          <a:bodyPr wrap="square">
            <a:spAutoFit/>
          </a:bodyPr>
          <a:lstStyle/>
          <a:p>
            <a:pPr algn="l"/>
            <a:r>
              <a:rPr sz="1100" b="0" i="0">
                <a:solidFill>
                  <a:srgbClr val="D1FAE5"/>
                </a:solidFill>
              </a:rPr>
              <a:t>India has 146 million farming families. The average farm income is less than ₹10,000/month. Suicide rates among farmers are among the highest in the world due to debt and price volatility. Direct market access is the #1 solution.</a:t>
            </a:r>
          </a:p>
        </p:txBody>
      </p:sp>
      <p:sp>
        <p:nvSpPr>
          <p:cNvPr id="14" name="Rectangle 13"/>
          <p:cNvSpPr/>
          <p:nvPr/>
        </p:nvSpPr>
        <p:spPr>
          <a:xfrm>
            <a:off x="8138160" y="2331720"/>
            <a:ext cx="3566160" cy="4114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468880"/>
            <a:ext cx="3291840" cy="822960"/>
          </a:xfrm>
          <a:prstGeom prst="rect">
            <a:avLst/>
          </a:prstGeom>
          <a:noFill/>
        </p:spPr>
        <p:txBody>
          <a:bodyPr wrap="square">
            <a:spAutoFit/>
          </a:bodyPr>
          <a:lstStyle/>
          <a:p>
            <a:pPr algn="l"/>
            <a:r>
              <a:rPr sz="1500" b="1" i="0">
                <a:solidFill>
                  <a:srgbClr val="FFFFFF"/>
                </a:solidFill>
              </a:rPr>
              <a:t>🍅 Quality &amp; Freshness Loss</a:t>
            </a:r>
          </a:p>
        </p:txBody>
      </p:sp>
      <p:sp>
        <p:nvSpPr>
          <p:cNvPr id="16" name="TextBox 15"/>
          <p:cNvSpPr txBox="1"/>
          <p:nvPr/>
        </p:nvSpPr>
        <p:spPr>
          <a:xfrm>
            <a:off x="8275320" y="3337560"/>
            <a:ext cx="3291840" cy="2926080"/>
          </a:xfrm>
          <a:prstGeom prst="rect">
            <a:avLst/>
          </a:prstGeom>
          <a:noFill/>
        </p:spPr>
        <p:txBody>
          <a:bodyPr wrap="square">
            <a:spAutoFit/>
          </a:bodyPr>
          <a:lstStyle/>
          <a:p>
            <a:pPr algn="l"/>
            <a:r>
              <a:rPr sz="1100" b="0" i="0">
                <a:solidFill>
                  <a:srgbClr val="D1FAE5"/>
                </a:solidFill>
              </a:rPr>
              <a:t>Produce changes hands 4–5 times before reaching the consumer. Each transfer adds 24–48 hours of delay and physical handling damage. By the time vegetables reach your kitchen, they are 5–7 days old and nutritionally depleted.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822960"/>
          </a:xfrm>
          <a:prstGeom prst="rect">
            <a:avLst/>
          </a:prstGeom>
          <a:noFill/>
        </p:spPr>
        <p:txBody>
          <a:bodyPr wrap="square">
            <a:spAutoFit/>
          </a:bodyPr>
          <a:lstStyle/>
          <a:p>
            <a:pPr algn="l"/>
            <a:r>
              <a:rPr sz="3000" b="1" i="0">
                <a:solidFill>
                  <a:srgbClr val="FFFFFF"/>
                </a:solidFill>
              </a:rPr>
              <a:t>Our Solution — KisanConnect</a:t>
            </a: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548640" y="1143000"/>
            <a:ext cx="10972800" cy="822960"/>
          </a:xfrm>
          <a:prstGeom prst="rect">
            <a:avLst/>
          </a:prstGeom>
          <a:noFill/>
        </p:spPr>
        <p:txBody>
          <a:bodyPr wrap="square">
            <a:spAutoFit/>
          </a:bodyPr>
          <a:lstStyle/>
          <a:p>
            <a:pPr algn="l"/>
            <a:r>
              <a:rPr sz="1400" b="0" i="0">
                <a:solidFill>
                  <a:srgbClr val="1F2937"/>
                </a:solidFill>
              </a:rPr>
              <a:t>KisanConnect is a full-stack digital marketplace that connects verified Indian farmers directly to buyers — households, restaurants, and retailers — without any middlemen. Farmers list their crops, set their own prices, and receive 100% of the payment directly. Buyers get farm-fresh produce at 25–35% lower than retail prices.</a:t>
            </a:r>
          </a:p>
        </p:txBody>
      </p:sp>
      <p:sp>
        <p:nvSpPr>
          <p:cNvPr id="7" name="Rectangle 6"/>
          <p:cNvSpPr/>
          <p:nvPr/>
        </p:nvSpPr>
        <p:spPr>
          <a:xfrm>
            <a:off x="594360" y="2057400"/>
            <a:ext cx="10972800" cy="36576"/>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2194560"/>
            <a:ext cx="2743200" cy="4297680"/>
          </a:xfrm>
          <a:prstGeom prst="rect">
            <a:avLst/>
          </a:prstGeom>
          <a:solidFill>
            <a:srgbClr val="D1FAE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286000"/>
            <a:ext cx="2560320" cy="457200"/>
          </a:xfrm>
          <a:prstGeom prst="rect">
            <a:avLst/>
          </a:prstGeom>
          <a:noFill/>
        </p:spPr>
        <p:txBody>
          <a:bodyPr wrap="square">
            <a:spAutoFit/>
          </a:bodyPr>
          <a:lstStyle/>
          <a:p>
            <a:pPr algn="ctr"/>
            <a:r>
              <a:rPr sz="2200" b="0" i="0">
                <a:solidFill>
                  <a:srgbClr val="FFFFFF"/>
                </a:solidFill>
              </a:rPr>
              <a:t>1️⃣</a:t>
            </a:r>
          </a:p>
        </p:txBody>
      </p:sp>
      <p:sp>
        <p:nvSpPr>
          <p:cNvPr id="10" name="TextBox 9"/>
          <p:cNvSpPr txBox="1"/>
          <p:nvPr/>
        </p:nvSpPr>
        <p:spPr>
          <a:xfrm>
            <a:off x="365760" y="2743200"/>
            <a:ext cx="2560320" cy="594360"/>
          </a:xfrm>
          <a:prstGeom prst="rect">
            <a:avLst/>
          </a:prstGeom>
          <a:noFill/>
        </p:spPr>
        <p:txBody>
          <a:bodyPr wrap="square">
            <a:spAutoFit/>
          </a:bodyPr>
          <a:lstStyle/>
          <a:p>
            <a:pPr algn="ctr"/>
            <a:r>
              <a:rPr sz="1300" b="1" i="0">
                <a:solidFill>
                  <a:srgbClr val="064E3B"/>
                </a:solidFill>
              </a:rPr>
              <a:t>Farmer Lists Crop</a:t>
            </a:r>
          </a:p>
        </p:txBody>
      </p:sp>
      <p:sp>
        <p:nvSpPr>
          <p:cNvPr id="11" name="TextBox 10"/>
          <p:cNvSpPr txBox="1"/>
          <p:nvPr/>
        </p:nvSpPr>
        <p:spPr>
          <a:xfrm>
            <a:off x="365760" y="3383280"/>
            <a:ext cx="2560320" cy="2926080"/>
          </a:xfrm>
          <a:prstGeom prst="rect">
            <a:avLst/>
          </a:prstGeom>
          <a:noFill/>
        </p:spPr>
        <p:txBody>
          <a:bodyPr wrap="square">
            <a:spAutoFit/>
          </a:bodyPr>
          <a:lstStyle/>
          <a:p>
            <a:pPr algn="l"/>
            <a:r>
              <a:rPr sz="1050" b="0" i="0">
                <a:solidFill>
                  <a:srgbClr val="1F2937"/>
                </a:solidFill>
              </a:rPr>
              <a:t>The farmer logs into their dashboard, adds crop name, quantity, harvest date, quality grade, and photo. They set their own price per kg/dozen. The listing goes live on the marketplace immediately.</a:t>
            </a:r>
          </a:p>
        </p:txBody>
      </p:sp>
      <p:sp>
        <p:nvSpPr>
          <p:cNvPr id="12" name="Rectangle 11"/>
          <p:cNvSpPr/>
          <p:nvPr/>
        </p:nvSpPr>
        <p:spPr>
          <a:xfrm>
            <a:off x="3200400" y="2194560"/>
            <a:ext cx="2743200" cy="4297680"/>
          </a:xfrm>
          <a:prstGeom prst="rect">
            <a:avLst/>
          </a:prstGeom>
          <a:solidFill>
            <a:srgbClr val="D1FAE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2286000"/>
            <a:ext cx="2560320" cy="457200"/>
          </a:xfrm>
          <a:prstGeom prst="rect">
            <a:avLst/>
          </a:prstGeom>
          <a:noFill/>
        </p:spPr>
        <p:txBody>
          <a:bodyPr wrap="square">
            <a:spAutoFit/>
          </a:bodyPr>
          <a:lstStyle/>
          <a:p>
            <a:pPr algn="ctr"/>
            <a:r>
              <a:rPr sz="2200" b="0" i="0">
                <a:solidFill>
                  <a:srgbClr val="FFFFFF"/>
                </a:solidFill>
              </a:rPr>
              <a:t>2️⃣</a:t>
            </a:r>
          </a:p>
        </p:txBody>
      </p:sp>
      <p:sp>
        <p:nvSpPr>
          <p:cNvPr id="14" name="TextBox 13"/>
          <p:cNvSpPr txBox="1"/>
          <p:nvPr/>
        </p:nvSpPr>
        <p:spPr>
          <a:xfrm>
            <a:off x="3291840" y="2743200"/>
            <a:ext cx="2560320" cy="594360"/>
          </a:xfrm>
          <a:prstGeom prst="rect">
            <a:avLst/>
          </a:prstGeom>
          <a:noFill/>
        </p:spPr>
        <p:txBody>
          <a:bodyPr wrap="square">
            <a:spAutoFit/>
          </a:bodyPr>
          <a:lstStyle/>
          <a:p>
            <a:pPr algn="ctr"/>
            <a:r>
              <a:rPr sz="1300" b="1" i="0">
                <a:solidFill>
                  <a:srgbClr val="064E3B"/>
                </a:solidFill>
              </a:rPr>
              <a:t>Hub Drop-off &amp;
Quality Check</a:t>
            </a:r>
          </a:p>
        </p:txBody>
      </p:sp>
      <p:sp>
        <p:nvSpPr>
          <p:cNvPr id="15" name="TextBox 14"/>
          <p:cNvSpPr txBox="1"/>
          <p:nvPr/>
        </p:nvSpPr>
        <p:spPr>
          <a:xfrm>
            <a:off x="3291840" y="3383280"/>
            <a:ext cx="2560320" cy="2926080"/>
          </a:xfrm>
          <a:prstGeom prst="rect">
            <a:avLst/>
          </a:prstGeom>
          <a:noFill/>
        </p:spPr>
        <p:txBody>
          <a:bodyPr wrap="square">
            <a:spAutoFit/>
          </a:bodyPr>
          <a:lstStyle/>
          <a:p>
            <a:pPr algn="l"/>
            <a:r>
              <a:rPr sz="1050" b="0" i="0">
                <a:solidFill>
                  <a:srgbClr val="1F2937"/>
                </a:solidFill>
              </a:rPr>
              <a:t>Produce is dropped at the nearest aggregation hub (Nashik, Pune, Delhi). Hub staff inspect and grade the produce. Cold storage ensures freshness is maintained for 24–48 hours.</a:t>
            </a:r>
          </a:p>
        </p:txBody>
      </p:sp>
      <p:sp>
        <p:nvSpPr>
          <p:cNvPr id="16" name="Rectangle 15"/>
          <p:cNvSpPr/>
          <p:nvPr/>
        </p:nvSpPr>
        <p:spPr>
          <a:xfrm>
            <a:off x="6126480" y="2194560"/>
            <a:ext cx="2743200" cy="4297680"/>
          </a:xfrm>
          <a:prstGeom prst="rect">
            <a:avLst/>
          </a:prstGeom>
          <a:solidFill>
            <a:srgbClr val="D1FAE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2286000"/>
            <a:ext cx="2560320" cy="457200"/>
          </a:xfrm>
          <a:prstGeom prst="rect">
            <a:avLst/>
          </a:prstGeom>
          <a:noFill/>
        </p:spPr>
        <p:txBody>
          <a:bodyPr wrap="square">
            <a:spAutoFit/>
          </a:bodyPr>
          <a:lstStyle/>
          <a:p>
            <a:pPr algn="ctr"/>
            <a:r>
              <a:rPr sz="2200" b="0" i="0">
                <a:solidFill>
                  <a:srgbClr val="FFFFFF"/>
                </a:solidFill>
              </a:rPr>
              <a:t>3️⃣</a:t>
            </a:r>
          </a:p>
        </p:txBody>
      </p:sp>
      <p:sp>
        <p:nvSpPr>
          <p:cNvPr id="18" name="TextBox 17"/>
          <p:cNvSpPr txBox="1"/>
          <p:nvPr/>
        </p:nvSpPr>
        <p:spPr>
          <a:xfrm>
            <a:off x="6217920" y="2743200"/>
            <a:ext cx="2560320" cy="594360"/>
          </a:xfrm>
          <a:prstGeom prst="rect">
            <a:avLst/>
          </a:prstGeom>
          <a:noFill/>
        </p:spPr>
        <p:txBody>
          <a:bodyPr wrap="square">
            <a:spAutoFit/>
          </a:bodyPr>
          <a:lstStyle/>
          <a:p>
            <a:pPr algn="ctr"/>
            <a:r>
              <a:rPr sz="1300" b="1" i="0">
                <a:solidFill>
                  <a:srgbClr val="064E3B"/>
                </a:solidFill>
              </a:rPr>
              <a:t>Buyer Orders
Directly</a:t>
            </a:r>
          </a:p>
        </p:txBody>
      </p:sp>
      <p:sp>
        <p:nvSpPr>
          <p:cNvPr id="19" name="TextBox 18"/>
          <p:cNvSpPr txBox="1"/>
          <p:nvPr/>
        </p:nvSpPr>
        <p:spPr>
          <a:xfrm>
            <a:off x="6217920" y="3383280"/>
            <a:ext cx="2560320" cy="2926080"/>
          </a:xfrm>
          <a:prstGeom prst="rect">
            <a:avLst/>
          </a:prstGeom>
          <a:noFill/>
        </p:spPr>
        <p:txBody>
          <a:bodyPr wrap="square">
            <a:spAutoFit/>
          </a:bodyPr>
          <a:lstStyle/>
          <a:p>
            <a:pPr algn="l"/>
            <a:r>
              <a:rPr sz="1050" b="0" i="0">
                <a:solidFill>
                  <a:srgbClr val="1F2937"/>
                </a:solidFill>
              </a:rPr>
              <a:t>Buyers browse the live marketplace, filter by category, location, and price. They place an order and choose doorstep delivery or hub pickup. Payment is confirmed and farmer is notified instantly.</a:t>
            </a:r>
          </a:p>
        </p:txBody>
      </p:sp>
      <p:sp>
        <p:nvSpPr>
          <p:cNvPr id="20" name="Rectangle 19"/>
          <p:cNvSpPr/>
          <p:nvPr/>
        </p:nvSpPr>
        <p:spPr>
          <a:xfrm>
            <a:off x="9052560" y="2194560"/>
            <a:ext cx="2743200" cy="4297680"/>
          </a:xfrm>
          <a:prstGeom prst="rect">
            <a:avLst/>
          </a:prstGeom>
          <a:solidFill>
            <a:srgbClr val="D1FAE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2286000"/>
            <a:ext cx="2560320" cy="457200"/>
          </a:xfrm>
          <a:prstGeom prst="rect">
            <a:avLst/>
          </a:prstGeom>
          <a:noFill/>
        </p:spPr>
        <p:txBody>
          <a:bodyPr wrap="square">
            <a:spAutoFit/>
          </a:bodyPr>
          <a:lstStyle/>
          <a:p>
            <a:pPr algn="ctr"/>
            <a:r>
              <a:rPr sz="2200" b="0" i="0">
                <a:solidFill>
                  <a:srgbClr val="FFFFFF"/>
                </a:solidFill>
              </a:rPr>
              <a:t>4️⃣</a:t>
            </a:r>
          </a:p>
        </p:txBody>
      </p:sp>
      <p:sp>
        <p:nvSpPr>
          <p:cNvPr id="22" name="TextBox 21"/>
          <p:cNvSpPr txBox="1"/>
          <p:nvPr/>
        </p:nvSpPr>
        <p:spPr>
          <a:xfrm>
            <a:off x="9144000" y="2743200"/>
            <a:ext cx="2560320" cy="594360"/>
          </a:xfrm>
          <a:prstGeom prst="rect">
            <a:avLst/>
          </a:prstGeom>
          <a:noFill/>
        </p:spPr>
        <p:txBody>
          <a:bodyPr wrap="square">
            <a:spAutoFit/>
          </a:bodyPr>
          <a:lstStyle/>
          <a:p>
            <a:pPr algn="ctr"/>
            <a:r>
              <a:rPr sz="1300" b="1" i="0">
                <a:solidFill>
                  <a:srgbClr val="064E3B"/>
                </a:solidFill>
              </a:rPr>
              <a:t>Direct Payout
to Farmer</a:t>
            </a:r>
          </a:p>
        </p:txBody>
      </p:sp>
      <p:sp>
        <p:nvSpPr>
          <p:cNvPr id="23" name="TextBox 22"/>
          <p:cNvSpPr txBox="1"/>
          <p:nvPr/>
        </p:nvSpPr>
        <p:spPr>
          <a:xfrm>
            <a:off x="9144000" y="3383280"/>
            <a:ext cx="2560320" cy="2926080"/>
          </a:xfrm>
          <a:prstGeom prst="rect">
            <a:avLst/>
          </a:prstGeom>
          <a:noFill/>
        </p:spPr>
        <p:txBody>
          <a:bodyPr wrap="square">
            <a:spAutoFit/>
          </a:bodyPr>
          <a:lstStyle/>
          <a:p>
            <a:pPr algn="l"/>
            <a:r>
              <a:rPr sz="1050" b="0" i="0">
                <a:solidFill>
                  <a:srgbClr val="1F2937"/>
                </a:solidFill>
              </a:rPr>
              <a:t>Once the order is delivered, 100% of the payment goes directly to the farmer's bank account. No commission agent. No broker. No delay. The farmer can track every order from their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822960"/>
          </a:xfrm>
          <a:prstGeom prst="rect">
            <a:avLst/>
          </a:prstGeom>
          <a:noFill/>
        </p:spPr>
        <p:txBody>
          <a:bodyPr wrap="square">
            <a:spAutoFit/>
          </a:bodyPr>
          <a:lstStyle/>
          <a:p>
            <a:pPr algn="l"/>
            <a:r>
              <a:rPr sz="3000" b="1" i="0">
                <a:solidFill>
                  <a:srgbClr val="FFFFFF"/>
                </a:solidFill>
              </a:rPr>
              <a:t>Key Features</a:t>
            </a: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548640" y="1097280"/>
            <a:ext cx="10972800" cy="548640"/>
          </a:xfrm>
          <a:prstGeom prst="rect">
            <a:avLst/>
          </a:prstGeom>
          <a:noFill/>
        </p:spPr>
        <p:txBody>
          <a:bodyPr wrap="square">
            <a:spAutoFit/>
          </a:bodyPr>
          <a:lstStyle/>
          <a:p>
            <a:pPr algn="l"/>
            <a:r>
              <a:rPr sz="1400" b="0" i="0">
                <a:solidFill>
                  <a:srgbClr val="1F2937"/>
                </a:solidFill>
              </a:rPr>
              <a:t>KisanConnect is built with 6 core modules that work together to create a complete agricultural marketplace ecosystem — from listing to delivery to payment.</a:t>
            </a:r>
          </a:p>
        </p:txBody>
      </p:sp>
      <p:sp>
        <p:nvSpPr>
          <p:cNvPr id="7" name="Rectangle 6"/>
          <p:cNvSpPr/>
          <p:nvPr/>
        </p:nvSpPr>
        <p:spPr>
          <a:xfrm>
            <a:off x="365760" y="1828800"/>
            <a:ext cx="3657600" cy="2103120"/>
          </a:xfrm>
          <a:prstGeom prst="rect">
            <a:avLst/>
          </a:prstGeom>
          <a:solidFill>
            <a:srgbClr val="F3F4F6"/>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901952"/>
            <a:ext cx="3429000" cy="411480"/>
          </a:xfrm>
          <a:prstGeom prst="rect">
            <a:avLst/>
          </a:prstGeom>
          <a:noFill/>
        </p:spPr>
        <p:txBody>
          <a:bodyPr wrap="square">
            <a:spAutoFit/>
          </a:bodyPr>
          <a:lstStyle/>
          <a:p>
            <a:pPr algn="l"/>
            <a:r>
              <a:rPr sz="1300" b="1" i="0">
                <a:solidFill>
                  <a:srgbClr val="064E3B"/>
                </a:solidFill>
              </a:rPr>
              <a:t>🛒 Buyer Marketplace</a:t>
            </a:r>
          </a:p>
        </p:txBody>
      </p:sp>
      <p:sp>
        <p:nvSpPr>
          <p:cNvPr id="9" name="TextBox 8"/>
          <p:cNvSpPr txBox="1"/>
          <p:nvPr/>
        </p:nvSpPr>
        <p:spPr>
          <a:xfrm>
            <a:off x="475488" y="2304288"/>
            <a:ext cx="3429000" cy="1554480"/>
          </a:xfrm>
          <a:prstGeom prst="rect">
            <a:avLst/>
          </a:prstGeom>
          <a:noFill/>
        </p:spPr>
        <p:txBody>
          <a:bodyPr wrap="square">
            <a:spAutoFit/>
          </a:bodyPr>
          <a:lstStyle/>
          <a:p>
            <a:pPr>
              <a:spcBef>
                <a:spcPts val="400"/>
              </a:spcBef>
            </a:pPr>
            <a:r>
              <a:rPr sz="950" b="1">
                <a:solidFill>
                  <a:srgbClr val="F59E0B"/>
                </a:solidFill>
              </a:rPr>
              <a:t>● </a:t>
            </a:r>
            <a:r>
              <a:rPr sz="1050">
                <a:solidFill>
                  <a:srgbClr val="1F2937"/>
                </a:solidFill>
              </a:rPr>
              <a:t>Browse 10+ live crop categories</a:t>
            </a:r>
          </a:p>
          <a:p>
            <a:pPr>
              <a:spcBef>
                <a:spcPts val="400"/>
              </a:spcBef>
            </a:pPr>
            <a:r>
              <a:rPr sz="950" b="1">
                <a:solidFill>
                  <a:srgbClr val="F59E0B"/>
                </a:solidFill>
              </a:rPr>
              <a:t>● </a:t>
            </a:r>
            <a:r>
              <a:rPr sz="1050">
                <a:solidFill>
                  <a:srgbClr val="1F2937"/>
                </a:solidFill>
              </a:rPr>
              <a:t>Filter by price, location, quality grade</a:t>
            </a:r>
          </a:p>
          <a:p>
            <a:pPr>
              <a:spcBef>
                <a:spcPts val="400"/>
              </a:spcBef>
            </a:pPr>
            <a:r>
              <a:rPr sz="950" b="1">
                <a:solidFill>
                  <a:srgbClr val="F59E0B"/>
                </a:solidFill>
              </a:rPr>
              <a:t>● </a:t>
            </a:r>
            <a:r>
              <a:rPr sz="1050">
                <a:solidFill>
                  <a:srgbClr val="1F2937"/>
                </a:solidFill>
              </a:rPr>
              <a:t>Keyword search across all listings</a:t>
            </a:r>
          </a:p>
          <a:p>
            <a:pPr>
              <a:spcBef>
                <a:spcPts val="400"/>
              </a:spcBef>
            </a:pPr>
            <a:r>
              <a:rPr sz="950" b="1">
                <a:solidFill>
                  <a:srgbClr val="F59E0B"/>
                </a:solidFill>
              </a:rPr>
              <a:t>● </a:t>
            </a:r>
            <a:r>
              <a:rPr sz="1050">
                <a:solidFill>
                  <a:srgbClr val="1F2937"/>
                </a:solidFill>
              </a:rPr>
              <a:t>Add to cart and checkout in 2 steps</a:t>
            </a:r>
          </a:p>
        </p:txBody>
      </p:sp>
      <p:sp>
        <p:nvSpPr>
          <p:cNvPr id="10" name="Rectangle 9"/>
          <p:cNvSpPr/>
          <p:nvPr/>
        </p:nvSpPr>
        <p:spPr>
          <a:xfrm>
            <a:off x="4251960" y="1828800"/>
            <a:ext cx="3657600" cy="2103120"/>
          </a:xfrm>
          <a:prstGeom prst="rect">
            <a:avLst/>
          </a:prstGeom>
          <a:solidFill>
            <a:srgbClr val="F3F4F6"/>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61688" y="1901952"/>
            <a:ext cx="3429000" cy="411480"/>
          </a:xfrm>
          <a:prstGeom prst="rect">
            <a:avLst/>
          </a:prstGeom>
          <a:noFill/>
        </p:spPr>
        <p:txBody>
          <a:bodyPr wrap="square">
            <a:spAutoFit/>
          </a:bodyPr>
          <a:lstStyle/>
          <a:p>
            <a:pPr algn="l"/>
            <a:r>
              <a:rPr sz="1300" b="1" i="0">
                <a:solidFill>
                  <a:srgbClr val="064E3B"/>
                </a:solidFill>
              </a:rPr>
              <a:t>🌾 Farmer Dashboard</a:t>
            </a:r>
          </a:p>
        </p:txBody>
      </p:sp>
      <p:sp>
        <p:nvSpPr>
          <p:cNvPr id="12" name="TextBox 11"/>
          <p:cNvSpPr txBox="1"/>
          <p:nvPr/>
        </p:nvSpPr>
        <p:spPr>
          <a:xfrm>
            <a:off x="4361688" y="2304288"/>
            <a:ext cx="3429000" cy="1554480"/>
          </a:xfrm>
          <a:prstGeom prst="rect">
            <a:avLst/>
          </a:prstGeom>
          <a:noFill/>
        </p:spPr>
        <p:txBody>
          <a:bodyPr wrap="square">
            <a:spAutoFit/>
          </a:bodyPr>
          <a:lstStyle/>
          <a:p>
            <a:pPr>
              <a:spcBef>
                <a:spcPts val="400"/>
              </a:spcBef>
            </a:pPr>
            <a:r>
              <a:rPr sz="950" b="1">
                <a:solidFill>
                  <a:srgbClr val="F59E0B"/>
                </a:solidFill>
              </a:rPr>
              <a:t>● </a:t>
            </a:r>
            <a:r>
              <a:rPr sz="1050">
                <a:solidFill>
                  <a:srgbClr val="1F2937"/>
                </a:solidFill>
              </a:rPr>
              <a:t>Add/edit/delete crop listings</a:t>
            </a:r>
          </a:p>
          <a:p>
            <a:pPr>
              <a:spcBef>
                <a:spcPts val="400"/>
              </a:spcBef>
            </a:pPr>
            <a:r>
              <a:rPr sz="950" b="1">
                <a:solidFill>
                  <a:srgbClr val="F59E0B"/>
                </a:solidFill>
              </a:rPr>
              <a:t>● </a:t>
            </a:r>
            <a:r>
              <a:rPr sz="1050">
                <a:solidFill>
                  <a:srgbClr val="1F2937"/>
                </a:solidFill>
              </a:rPr>
              <a:t>Upload crop photos directly</a:t>
            </a:r>
          </a:p>
          <a:p>
            <a:pPr>
              <a:spcBef>
                <a:spcPts val="400"/>
              </a:spcBef>
            </a:pPr>
            <a:r>
              <a:rPr sz="950" b="1">
                <a:solidFill>
                  <a:srgbClr val="F59E0B"/>
                </a:solidFill>
              </a:rPr>
              <a:t>● </a:t>
            </a:r>
            <a:r>
              <a:rPr sz="1050">
                <a:solidFill>
                  <a:srgbClr val="1F2937"/>
                </a:solidFill>
              </a:rPr>
              <a:t>View incoming orders in real-time</a:t>
            </a:r>
          </a:p>
          <a:p>
            <a:pPr>
              <a:spcBef>
                <a:spcPts val="400"/>
              </a:spcBef>
            </a:pPr>
            <a:r>
              <a:rPr sz="950" b="1">
                <a:solidFill>
                  <a:srgbClr val="F59E0B"/>
                </a:solidFill>
              </a:rPr>
              <a:t>● </a:t>
            </a:r>
            <a:r>
              <a:rPr sz="1050">
                <a:solidFill>
                  <a:srgbClr val="1F2937"/>
                </a:solidFill>
              </a:rPr>
              <a:t>Track revenue and order history</a:t>
            </a:r>
          </a:p>
        </p:txBody>
      </p:sp>
      <p:sp>
        <p:nvSpPr>
          <p:cNvPr id="13" name="Rectangle 12"/>
          <p:cNvSpPr/>
          <p:nvPr/>
        </p:nvSpPr>
        <p:spPr>
          <a:xfrm>
            <a:off x="8138160" y="1828800"/>
            <a:ext cx="3657600" cy="2103120"/>
          </a:xfrm>
          <a:prstGeom prst="rect">
            <a:avLst/>
          </a:prstGeom>
          <a:solidFill>
            <a:srgbClr val="F3F4F6"/>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1901952"/>
            <a:ext cx="3429000" cy="411480"/>
          </a:xfrm>
          <a:prstGeom prst="rect">
            <a:avLst/>
          </a:prstGeom>
          <a:noFill/>
        </p:spPr>
        <p:txBody>
          <a:bodyPr wrap="square">
            <a:spAutoFit/>
          </a:bodyPr>
          <a:lstStyle/>
          <a:p>
            <a:pPr algn="l"/>
            <a:r>
              <a:rPr sz="1300" b="1" i="0">
                <a:solidFill>
                  <a:srgbClr val="064E3B"/>
                </a:solidFill>
              </a:rPr>
              <a:t>📦 Smart Order Flow</a:t>
            </a:r>
          </a:p>
        </p:txBody>
      </p:sp>
      <p:sp>
        <p:nvSpPr>
          <p:cNvPr id="15" name="TextBox 14"/>
          <p:cNvSpPr txBox="1"/>
          <p:nvPr/>
        </p:nvSpPr>
        <p:spPr>
          <a:xfrm>
            <a:off x="8247888" y="2304288"/>
            <a:ext cx="3429000" cy="1554480"/>
          </a:xfrm>
          <a:prstGeom prst="rect">
            <a:avLst/>
          </a:prstGeom>
          <a:noFill/>
        </p:spPr>
        <p:txBody>
          <a:bodyPr wrap="square">
            <a:spAutoFit/>
          </a:bodyPr>
          <a:lstStyle/>
          <a:p>
            <a:pPr>
              <a:spcBef>
                <a:spcPts val="400"/>
              </a:spcBef>
            </a:pPr>
            <a:r>
              <a:rPr sz="950" b="1">
                <a:solidFill>
                  <a:srgbClr val="F59E0B"/>
                </a:solidFill>
              </a:rPr>
              <a:t>● </a:t>
            </a:r>
            <a:r>
              <a:rPr sz="1050">
                <a:solidFill>
                  <a:srgbClr val="1F2937"/>
                </a:solidFill>
              </a:rPr>
              <a:t>Cart → Checkout → Confirmation</a:t>
            </a:r>
          </a:p>
          <a:p>
            <a:pPr>
              <a:spcBef>
                <a:spcPts val="400"/>
              </a:spcBef>
            </a:pPr>
            <a:r>
              <a:rPr sz="950" b="1">
                <a:solidFill>
                  <a:srgbClr val="F59E0B"/>
                </a:solidFill>
              </a:rPr>
              <a:t>● </a:t>
            </a:r>
            <a:r>
              <a:rPr sz="1050">
                <a:solidFill>
                  <a:srgbClr val="1F2937"/>
                </a:solidFill>
              </a:rPr>
              <a:t>Choose Doorstep or Hub Pickup</a:t>
            </a:r>
          </a:p>
          <a:p>
            <a:pPr>
              <a:spcBef>
                <a:spcPts val="400"/>
              </a:spcBef>
            </a:pPr>
            <a:r>
              <a:rPr sz="950" b="1">
                <a:solidFill>
                  <a:srgbClr val="F59E0B"/>
                </a:solidFill>
              </a:rPr>
              <a:t>● </a:t>
            </a:r>
            <a:r>
              <a:rPr sz="1050">
                <a:solidFill>
                  <a:srgbClr val="1F2937"/>
                </a:solidFill>
              </a:rPr>
              <a:t>Live 4-step order tracking timeline</a:t>
            </a:r>
          </a:p>
          <a:p>
            <a:pPr>
              <a:spcBef>
                <a:spcPts val="400"/>
              </a:spcBef>
            </a:pPr>
            <a:r>
              <a:rPr sz="950" b="1">
                <a:solidFill>
                  <a:srgbClr val="F59E0B"/>
                </a:solidFill>
              </a:rPr>
              <a:t>● </a:t>
            </a:r>
            <a:r>
              <a:rPr sz="1050">
                <a:solidFill>
                  <a:srgbClr val="1F2937"/>
                </a:solidFill>
              </a:rPr>
              <a:t>Order history for buyers and farmers</a:t>
            </a:r>
          </a:p>
        </p:txBody>
      </p:sp>
      <p:sp>
        <p:nvSpPr>
          <p:cNvPr id="16" name="Rectangle 15"/>
          <p:cNvSpPr/>
          <p:nvPr/>
        </p:nvSpPr>
        <p:spPr>
          <a:xfrm>
            <a:off x="365760" y="4160520"/>
            <a:ext cx="3657600" cy="2103120"/>
          </a:xfrm>
          <a:prstGeom prst="rect">
            <a:avLst/>
          </a:prstGeom>
          <a:solidFill>
            <a:srgbClr val="F3F4F6"/>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4233672"/>
            <a:ext cx="3429000" cy="411480"/>
          </a:xfrm>
          <a:prstGeom prst="rect">
            <a:avLst/>
          </a:prstGeom>
          <a:noFill/>
        </p:spPr>
        <p:txBody>
          <a:bodyPr wrap="square">
            <a:spAutoFit/>
          </a:bodyPr>
          <a:lstStyle/>
          <a:p>
            <a:pPr algn="l"/>
            <a:r>
              <a:rPr sz="1300" b="1" i="0">
                <a:solidFill>
                  <a:srgbClr val="064E3B"/>
                </a:solidFill>
              </a:rPr>
              <a:t>💰 Price Transparency</a:t>
            </a:r>
          </a:p>
        </p:txBody>
      </p:sp>
      <p:sp>
        <p:nvSpPr>
          <p:cNvPr id="18" name="TextBox 17"/>
          <p:cNvSpPr txBox="1"/>
          <p:nvPr/>
        </p:nvSpPr>
        <p:spPr>
          <a:xfrm>
            <a:off x="475488" y="4636008"/>
            <a:ext cx="3429000" cy="1554480"/>
          </a:xfrm>
          <a:prstGeom prst="rect">
            <a:avLst/>
          </a:prstGeom>
          <a:noFill/>
        </p:spPr>
        <p:txBody>
          <a:bodyPr wrap="square">
            <a:spAutoFit/>
          </a:bodyPr>
          <a:lstStyle/>
          <a:p>
            <a:pPr>
              <a:spcBef>
                <a:spcPts val="400"/>
              </a:spcBef>
            </a:pPr>
            <a:r>
              <a:rPr sz="950" b="1">
                <a:solidFill>
                  <a:srgbClr val="F59E0B"/>
                </a:solidFill>
              </a:rPr>
              <a:t>● </a:t>
            </a:r>
            <a:r>
              <a:rPr sz="1050">
                <a:solidFill>
                  <a:srgbClr val="1F2937"/>
                </a:solidFill>
              </a:rPr>
              <a:t>Visual widget: Farmer vs APMC chain</a:t>
            </a:r>
          </a:p>
          <a:p>
            <a:pPr>
              <a:spcBef>
                <a:spcPts val="400"/>
              </a:spcBef>
            </a:pPr>
            <a:r>
              <a:rPr sz="950" b="1">
                <a:solidFill>
                  <a:srgbClr val="F59E0B"/>
                </a:solidFill>
              </a:rPr>
              <a:t>● </a:t>
            </a:r>
            <a:r>
              <a:rPr sz="1050">
                <a:solidFill>
                  <a:srgbClr val="1F2937"/>
                </a:solidFill>
              </a:rPr>
              <a:t>Shows exact farmer payout %</a:t>
            </a:r>
          </a:p>
          <a:p>
            <a:pPr>
              <a:spcBef>
                <a:spcPts val="400"/>
              </a:spcBef>
            </a:pPr>
            <a:r>
              <a:rPr sz="950" b="1">
                <a:solidFill>
                  <a:srgbClr val="F59E0B"/>
                </a:solidFill>
              </a:rPr>
              <a:t>● </a:t>
            </a:r>
            <a:r>
              <a:rPr sz="1050">
                <a:solidFill>
                  <a:srgbClr val="1F2937"/>
                </a:solidFill>
              </a:rPr>
              <a:t>Compares with traditional retail price</a:t>
            </a:r>
          </a:p>
          <a:p>
            <a:pPr>
              <a:spcBef>
                <a:spcPts val="400"/>
              </a:spcBef>
            </a:pPr>
            <a:r>
              <a:rPr sz="950" b="1">
                <a:solidFill>
                  <a:srgbClr val="F59E0B"/>
                </a:solidFill>
              </a:rPr>
              <a:t>● </a:t>
            </a:r>
            <a:r>
              <a:rPr sz="1050">
                <a:solidFill>
                  <a:srgbClr val="1F2937"/>
                </a:solidFill>
              </a:rPr>
              <a:t>Builds buyer trust and confidence</a:t>
            </a:r>
          </a:p>
        </p:txBody>
      </p:sp>
      <p:sp>
        <p:nvSpPr>
          <p:cNvPr id="19" name="Rectangle 18"/>
          <p:cNvSpPr/>
          <p:nvPr/>
        </p:nvSpPr>
        <p:spPr>
          <a:xfrm>
            <a:off x="4251960" y="4160520"/>
            <a:ext cx="3657600" cy="2103120"/>
          </a:xfrm>
          <a:prstGeom prst="rect">
            <a:avLst/>
          </a:prstGeom>
          <a:solidFill>
            <a:srgbClr val="F3F4F6"/>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1688" y="4233672"/>
            <a:ext cx="3429000" cy="411480"/>
          </a:xfrm>
          <a:prstGeom prst="rect">
            <a:avLst/>
          </a:prstGeom>
          <a:noFill/>
        </p:spPr>
        <p:txBody>
          <a:bodyPr wrap="square">
            <a:spAutoFit/>
          </a:bodyPr>
          <a:lstStyle/>
          <a:p>
            <a:pPr algn="l"/>
            <a:r>
              <a:rPr sz="1300" b="1" i="0">
                <a:solidFill>
                  <a:srgbClr val="064E3B"/>
                </a:solidFill>
              </a:rPr>
              <a:t>🌐 8-Language Support</a:t>
            </a:r>
          </a:p>
        </p:txBody>
      </p:sp>
      <p:sp>
        <p:nvSpPr>
          <p:cNvPr id="21" name="TextBox 20"/>
          <p:cNvSpPr txBox="1"/>
          <p:nvPr/>
        </p:nvSpPr>
        <p:spPr>
          <a:xfrm>
            <a:off x="4361688" y="4636008"/>
            <a:ext cx="3429000" cy="1554480"/>
          </a:xfrm>
          <a:prstGeom prst="rect">
            <a:avLst/>
          </a:prstGeom>
          <a:noFill/>
        </p:spPr>
        <p:txBody>
          <a:bodyPr wrap="square">
            <a:spAutoFit/>
          </a:bodyPr>
          <a:lstStyle/>
          <a:p>
            <a:pPr>
              <a:spcBef>
                <a:spcPts val="400"/>
              </a:spcBef>
            </a:pPr>
            <a:r>
              <a:rPr sz="950" b="1">
                <a:solidFill>
                  <a:srgbClr val="F59E0B"/>
                </a:solidFill>
              </a:rPr>
              <a:t>● </a:t>
            </a:r>
            <a:r>
              <a:rPr sz="1050">
                <a:solidFill>
                  <a:srgbClr val="1F2937"/>
                </a:solidFill>
              </a:rPr>
              <a:t>English, Hindi, Marathi, Punjabi</a:t>
            </a:r>
          </a:p>
          <a:p>
            <a:pPr>
              <a:spcBef>
                <a:spcPts val="400"/>
              </a:spcBef>
            </a:pPr>
            <a:r>
              <a:rPr sz="950" b="1">
                <a:solidFill>
                  <a:srgbClr val="F59E0B"/>
                </a:solidFill>
              </a:rPr>
              <a:t>● </a:t>
            </a:r>
            <a:r>
              <a:rPr sz="1050">
                <a:solidFill>
                  <a:srgbClr val="1F2937"/>
                </a:solidFill>
              </a:rPr>
              <a:t>Telugu, Tamil, Bengali, Kannada</a:t>
            </a:r>
          </a:p>
          <a:p>
            <a:pPr>
              <a:spcBef>
                <a:spcPts val="400"/>
              </a:spcBef>
            </a:pPr>
            <a:r>
              <a:rPr sz="950" b="1">
                <a:solidFill>
                  <a:srgbClr val="F59E0B"/>
                </a:solidFill>
              </a:rPr>
              <a:t>● </a:t>
            </a:r>
            <a:r>
              <a:rPr sz="1050">
                <a:solidFill>
                  <a:srgbClr val="1F2937"/>
                </a:solidFill>
              </a:rPr>
              <a:t>Instant switch with 🌐 globe icon</a:t>
            </a:r>
          </a:p>
          <a:p>
            <a:pPr>
              <a:spcBef>
                <a:spcPts val="400"/>
              </a:spcBef>
            </a:pPr>
            <a:r>
              <a:rPr sz="950" b="1">
                <a:solidFill>
                  <a:srgbClr val="F59E0B"/>
                </a:solidFill>
              </a:rPr>
              <a:t>● </a:t>
            </a:r>
            <a:r>
              <a:rPr sz="1050">
                <a:solidFill>
                  <a:srgbClr val="1F2937"/>
                </a:solidFill>
              </a:rPr>
              <a:t>Saved to browser — persists on refresh</a:t>
            </a:r>
          </a:p>
        </p:txBody>
      </p:sp>
      <p:sp>
        <p:nvSpPr>
          <p:cNvPr id="22" name="Rectangle 21"/>
          <p:cNvSpPr/>
          <p:nvPr/>
        </p:nvSpPr>
        <p:spPr>
          <a:xfrm>
            <a:off x="8138160" y="4160520"/>
            <a:ext cx="3657600" cy="2103120"/>
          </a:xfrm>
          <a:prstGeom prst="rect">
            <a:avLst/>
          </a:prstGeom>
          <a:solidFill>
            <a:srgbClr val="F3F4F6"/>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47888" y="4233672"/>
            <a:ext cx="3429000" cy="411480"/>
          </a:xfrm>
          <a:prstGeom prst="rect">
            <a:avLst/>
          </a:prstGeom>
          <a:noFill/>
        </p:spPr>
        <p:txBody>
          <a:bodyPr wrap="square">
            <a:spAutoFit/>
          </a:bodyPr>
          <a:lstStyle/>
          <a:p>
            <a:pPr algn="l"/>
            <a:r>
              <a:rPr sz="1300" b="1" i="0">
                <a:solidFill>
                  <a:srgbClr val="064E3B"/>
                </a:solidFill>
              </a:rPr>
              <a:t>🔐 Secure Authentication</a:t>
            </a:r>
          </a:p>
        </p:txBody>
      </p:sp>
      <p:sp>
        <p:nvSpPr>
          <p:cNvPr id="24" name="TextBox 23"/>
          <p:cNvSpPr txBox="1"/>
          <p:nvPr/>
        </p:nvSpPr>
        <p:spPr>
          <a:xfrm>
            <a:off x="8247888" y="4636008"/>
            <a:ext cx="3429000" cy="1554480"/>
          </a:xfrm>
          <a:prstGeom prst="rect">
            <a:avLst/>
          </a:prstGeom>
          <a:noFill/>
        </p:spPr>
        <p:txBody>
          <a:bodyPr wrap="square">
            <a:spAutoFit/>
          </a:bodyPr>
          <a:lstStyle/>
          <a:p>
            <a:pPr>
              <a:spcBef>
                <a:spcPts val="400"/>
              </a:spcBef>
            </a:pPr>
            <a:r>
              <a:rPr sz="950" b="1">
                <a:solidFill>
                  <a:srgbClr val="F59E0B"/>
                </a:solidFill>
              </a:rPr>
              <a:t>● </a:t>
            </a:r>
            <a:r>
              <a:rPr sz="1050">
                <a:solidFill>
                  <a:srgbClr val="1F2937"/>
                </a:solidFill>
              </a:rPr>
              <a:t>JWT token-based login system</a:t>
            </a:r>
          </a:p>
          <a:p>
            <a:pPr>
              <a:spcBef>
                <a:spcPts val="400"/>
              </a:spcBef>
            </a:pPr>
            <a:r>
              <a:rPr sz="950" b="1">
                <a:solidFill>
                  <a:srgbClr val="F59E0B"/>
                </a:solidFill>
              </a:rPr>
              <a:t>● </a:t>
            </a:r>
            <a:r>
              <a:rPr sz="1050">
                <a:solidFill>
                  <a:srgbClr val="1F2937"/>
                </a:solidFill>
              </a:rPr>
              <a:t>Bcrypt password hashing (salt=10)</a:t>
            </a:r>
          </a:p>
          <a:p>
            <a:pPr>
              <a:spcBef>
                <a:spcPts val="400"/>
              </a:spcBef>
            </a:pPr>
            <a:r>
              <a:rPr sz="950" b="1">
                <a:solidFill>
                  <a:srgbClr val="F59E0B"/>
                </a:solidFill>
              </a:rPr>
              <a:t>● </a:t>
            </a:r>
            <a:r>
              <a:rPr sz="1050">
                <a:solidFill>
                  <a:srgbClr val="1F2937"/>
                </a:solidFill>
              </a:rPr>
              <a:t>3 roles: Farmer, Buyer, Admin</a:t>
            </a:r>
          </a:p>
          <a:p>
            <a:pPr>
              <a:spcBef>
                <a:spcPts val="400"/>
              </a:spcBef>
            </a:pPr>
            <a:r>
              <a:rPr sz="950" b="1">
                <a:solidFill>
                  <a:srgbClr val="F59E0B"/>
                </a:solidFill>
              </a:rPr>
              <a:t>● </a:t>
            </a:r>
            <a:r>
              <a:rPr sz="1050">
                <a:solidFill>
                  <a:srgbClr val="1F2937"/>
                </a:solidFill>
              </a:rPr>
              <a:t>Role-based route protection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822960"/>
          </a:xfrm>
          <a:prstGeom prst="rect">
            <a:avLst/>
          </a:prstGeom>
          <a:noFill/>
        </p:spPr>
        <p:txBody>
          <a:bodyPr wrap="square">
            <a:spAutoFit/>
          </a:bodyPr>
          <a:lstStyle/>
          <a:p>
            <a:pPr algn="l"/>
            <a:r>
              <a:rPr sz="3000" b="1" i="0">
                <a:solidFill>
                  <a:srgbClr val="FFFFFF"/>
                </a:solidFill>
              </a:rPr>
              <a:t>Tech Stack — Frontend</a:t>
            </a: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548640" y="1097280"/>
            <a:ext cx="10972800" cy="685800"/>
          </a:xfrm>
          <a:prstGeom prst="rect">
            <a:avLst/>
          </a:prstGeom>
          <a:noFill/>
        </p:spPr>
        <p:txBody>
          <a:bodyPr wrap="square">
            <a:spAutoFit/>
          </a:bodyPr>
          <a:lstStyle/>
          <a:p>
            <a:pPr algn="l"/>
            <a:r>
              <a:rPr sz="1350" b="0" i="0">
                <a:solidFill>
                  <a:srgbClr val="1F2937"/>
                </a:solidFill>
              </a:rPr>
              <a:t>The frontend is the visual layer of KisanConnect — everything the user sees and interacts with. It is built using modern React-based technologies that ensure fast performance, beautiful design, and a seamless user experience across all devices.</a:t>
            </a:r>
          </a:p>
        </p:txBody>
      </p:sp>
      <p:sp>
        <p:nvSpPr>
          <p:cNvPr id="7" name="Rectangle 6"/>
          <p:cNvSpPr/>
          <p:nvPr/>
        </p:nvSpPr>
        <p:spPr>
          <a:xfrm>
            <a:off x="594360" y="1874519"/>
            <a:ext cx="1097280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011680"/>
            <a:ext cx="2743200" cy="5943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57400"/>
            <a:ext cx="2560320" cy="320040"/>
          </a:xfrm>
          <a:prstGeom prst="rect">
            <a:avLst/>
          </a:prstGeom>
          <a:noFill/>
        </p:spPr>
        <p:txBody>
          <a:bodyPr wrap="square">
            <a:spAutoFit/>
          </a:bodyPr>
          <a:lstStyle/>
          <a:p>
            <a:pPr algn="l"/>
            <a:r>
              <a:rPr sz="1300" b="1" i="0">
                <a:solidFill>
                  <a:srgbClr val="FFFFFF"/>
                </a:solidFill>
              </a:rPr>
              <a:t>⚡ Next.js 14</a:t>
            </a:r>
          </a:p>
        </p:txBody>
      </p:sp>
      <p:sp>
        <p:nvSpPr>
          <p:cNvPr id="10" name="TextBox 9"/>
          <p:cNvSpPr txBox="1"/>
          <p:nvPr/>
        </p:nvSpPr>
        <p:spPr>
          <a:xfrm>
            <a:off x="457200" y="2359152"/>
            <a:ext cx="2560320" cy="228600"/>
          </a:xfrm>
          <a:prstGeom prst="rect">
            <a:avLst/>
          </a:prstGeom>
          <a:noFill/>
        </p:spPr>
        <p:txBody>
          <a:bodyPr wrap="square">
            <a:spAutoFit/>
          </a:bodyPr>
          <a:lstStyle/>
          <a:p>
            <a:pPr algn="l"/>
            <a:r>
              <a:rPr sz="950" b="0" i="0">
                <a:solidFill>
                  <a:srgbClr val="E9D5FF"/>
                </a:solidFill>
              </a:rPr>
              <a:t>App Router Framework</a:t>
            </a:r>
          </a:p>
        </p:txBody>
      </p:sp>
      <p:sp>
        <p:nvSpPr>
          <p:cNvPr id="11" name="TextBox 10"/>
          <p:cNvSpPr txBox="1"/>
          <p:nvPr/>
        </p:nvSpPr>
        <p:spPr>
          <a:xfrm>
            <a:off x="457200" y="2697480"/>
            <a:ext cx="2560320" cy="3931920"/>
          </a:xfrm>
          <a:prstGeom prst="rect">
            <a:avLst/>
          </a:prstGeom>
          <a:noFill/>
        </p:spPr>
        <p:txBody>
          <a:bodyPr wrap="square">
            <a:spAutoFit/>
          </a:bodyPr>
          <a:lstStyle/>
          <a:p>
            <a:pPr>
              <a:spcBef>
                <a:spcPts val="400"/>
              </a:spcBef>
            </a:pPr>
            <a:r>
              <a:rPr sz="950" b="1">
                <a:solidFill>
                  <a:srgbClr val="7C3AED"/>
                </a:solidFill>
              </a:rPr>
              <a:t>● </a:t>
            </a:r>
            <a:r>
              <a:rPr sz="1050">
                <a:solidFill>
                  <a:srgbClr val="1F2937"/>
                </a:solidFill>
              </a:rPr>
              <a:t>File-based routing — each folder = 1 page</a:t>
            </a:r>
          </a:p>
          <a:p>
            <a:pPr>
              <a:spcBef>
                <a:spcPts val="400"/>
              </a:spcBef>
            </a:pPr>
            <a:r>
              <a:rPr sz="950" b="1">
                <a:solidFill>
                  <a:srgbClr val="7C3AED"/>
                </a:solidFill>
              </a:rPr>
              <a:t>● </a:t>
            </a:r>
            <a:r>
              <a:rPr sz="1050">
                <a:solidFill>
                  <a:srgbClr val="1F2937"/>
                </a:solidFill>
              </a:rPr>
              <a:t>Layouts shared across all pages</a:t>
            </a:r>
          </a:p>
          <a:p>
            <a:pPr>
              <a:spcBef>
                <a:spcPts val="400"/>
              </a:spcBef>
            </a:pPr>
            <a:r>
              <a:rPr sz="950" b="1">
                <a:solidFill>
                  <a:srgbClr val="7C3AED"/>
                </a:solidFill>
              </a:rPr>
              <a:t>● </a:t>
            </a:r>
            <a:r>
              <a:rPr sz="1050">
                <a:solidFill>
                  <a:srgbClr val="1F2937"/>
                </a:solidFill>
              </a:rPr>
              <a:t>'use client' for interactive components</a:t>
            </a:r>
          </a:p>
          <a:p>
            <a:pPr>
              <a:spcBef>
                <a:spcPts val="400"/>
              </a:spcBef>
            </a:pPr>
            <a:r>
              <a:rPr sz="950" b="1">
                <a:solidFill>
                  <a:srgbClr val="7C3AED"/>
                </a:solidFill>
              </a:rPr>
              <a:t>● </a:t>
            </a:r>
            <a:r>
              <a:rPr sz="1050">
                <a:solidFill>
                  <a:srgbClr val="1F2937"/>
                </a:solidFill>
              </a:rPr>
              <a:t>Dynamic routes like /produce/[id]</a:t>
            </a:r>
          </a:p>
          <a:p>
            <a:pPr>
              <a:spcBef>
                <a:spcPts val="400"/>
              </a:spcBef>
            </a:pPr>
            <a:r>
              <a:rPr sz="950" b="1">
                <a:solidFill>
                  <a:srgbClr val="7C3AED"/>
                </a:solidFill>
              </a:rPr>
              <a:t>● </a:t>
            </a:r>
            <a:r>
              <a:rPr sz="1050">
                <a:solidFill>
                  <a:srgbClr val="1F2937"/>
                </a:solidFill>
              </a:rPr>
              <a:t>Built-in image optimisation</a:t>
            </a:r>
          </a:p>
        </p:txBody>
      </p:sp>
      <p:sp>
        <p:nvSpPr>
          <p:cNvPr id="12" name="Rectangle 11"/>
          <p:cNvSpPr/>
          <p:nvPr/>
        </p:nvSpPr>
        <p:spPr>
          <a:xfrm>
            <a:off x="3291840" y="2011680"/>
            <a:ext cx="2743200" cy="5943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2057400"/>
            <a:ext cx="2560320" cy="320040"/>
          </a:xfrm>
          <a:prstGeom prst="rect">
            <a:avLst/>
          </a:prstGeom>
          <a:noFill/>
        </p:spPr>
        <p:txBody>
          <a:bodyPr wrap="square">
            <a:spAutoFit/>
          </a:bodyPr>
          <a:lstStyle/>
          <a:p>
            <a:pPr algn="l"/>
            <a:r>
              <a:rPr sz="1300" b="1" i="0">
                <a:solidFill>
                  <a:srgbClr val="FFFFFF"/>
                </a:solidFill>
              </a:rPr>
              <a:t>🎨 Tailwind CSS 3.4</a:t>
            </a:r>
          </a:p>
        </p:txBody>
      </p:sp>
      <p:sp>
        <p:nvSpPr>
          <p:cNvPr id="14" name="TextBox 13"/>
          <p:cNvSpPr txBox="1"/>
          <p:nvPr/>
        </p:nvSpPr>
        <p:spPr>
          <a:xfrm>
            <a:off x="3383280" y="2359152"/>
            <a:ext cx="2560320" cy="228600"/>
          </a:xfrm>
          <a:prstGeom prst="rect">
            <a:avLst/>
          </a:prstGeom>
          <a:noFill/>
        </p:spPr>
        <p:txBody>
          <a:bodyPr wrap="square">
            <a:spAutoFit/>
          </a:bodyPr>
          <a:lstStyle/>
          <a:p>
            <a:pPr algn="l"/>
            <a:r>
              <a:rPr sz="950" b="0" i="0">
                <a:solidFill>
                  <a:srgbClr val="E9D5FF"/>
                </a:solidFill>
              </a:rPr>
              <a:t>Utility-First Styling</a:t>
            </a:r>
          </a:p>
        </p:txBody>
      </p:sp>
      <p:sp>
        <p:nvSpPr>
          <p:cNvPr id="15" name="TextBox 14"/>
          <p:cNvSpPr txBox="1"/>
          <p:nvPr/>
        </p:nvSpPr>
        <p:spPr>
          <a:xfrm>
            <a:off x="3383280" y="2697480"/>
            <a:ext cx="2560320" cy="3931920"/>
          </a:xfrm>
          <a:prstGeom prst="rect">
            <a:avLst/>
          </a:prstGeom>
          <a:noFill/>
        </p:spPr>
        <p:txBody>
          <a:bodyPr wrap="square">
            <a:spAutoFit/>
          </a:bodyPr>
          <a:lstStyle/>
          <a:p>
            <a:pPr>
              <a:spcBef>
                <a:spcPts val="400"/>
              </a:spcBef>
            </a:pPr>
            <a:r>
              <a:rPr sz="950" b="1">
                <a:solidFill>
                  <a:srgbClr val="7C3AED"/>
                </a:solidFill>
              </a:rPr>
              <a:t>● </a:t>
            </a:r>
            <a:r>
              <a:rPr sz="1050">
                <a:solidFill>
                  <a:srgbClr val="1F2937"/>
                </a:solidFill>
              </a:rPr>
              <a:t>No separate CSS files needed</a:t>
            </a:r>
          </a:p>
          <a:p>
            <a:pPr>
              <a:spcBef>
                <a:spcPts val="400"/>
              </a:spcBef>
            </a:pPr>
            <a:r>
              <a:rPr sz="950" b="1">
                <a:solidFill>
                  <a:srgbClr val="7C3AED"/>
                </a:solidFill>
              </a:rPr>
              <a:t>● </a:t>
            </a:r>
            <a:r>
              <a:rPr sz="1050">
                <a:solidFill>
                  <a:srgbClr val="1F2937"/>
                </a:solidFill>
              </a:rPr>
              <a:t>Responsive classes: sm: md: lg:</a:t>
            </a:r>
          </a:p>
          <a:p>
            <a:pPr>
              <a:spcBef>
                <a:spcPts val="400"/>
              </a:spcBef>
            </a:pPr>
            <a:r>
              <a:rPr sz="950" b="1">
                <a:solidFill>
                  <a:srgbClr val="7C3AED"/>
                </a:solidFill>
              </a:rPr>
              <a:t>● </a:t>
            </a:r>
            <a:r>
              <a:rPr sz="1050">
                <a:solidFill>
                  <a:srgbClr val="1F2937"/>
                </a:solidFill>
              </a:rPr>
              <a:t>Custom emerald green colour theme</a:t>
            </a:r>
          </a:p>
          <a:p>
            <a:pPr>
              <a:spcBef>
                <a:spcPts val="400"/>
              </a:spcBef>
            </a:pPr>
            <a:r>
              <a:rPr sz="950" b="1">
                <a:solidFill>
                  <a:srgbClr val="7C3AED"/>
                </a:solidFill>
              </a:rPr>
              <a:t>● </a:t>
            </a:r>
            <a:r>
              <a:rPr sz="1050">
                <a:solidFill>
                  <a:srgbClr val="1F2937"/>
                </a:solidFill>
              </a:rPr>
              <a:t>Hover, focus, active states built-in</a:t>
            </a:r>
          </a:p>
          <a:p>
            <a:pPr>
              <a:spcBef>
                <a:spcPts val="400"/>
              </a:spcBef>
            </a:pPr>
            <a:r>
              <a:rPr sz="950" b="1">
                <a:solidFill>
                  <a:srgbClr val="7C3AED"/>
                </a:solidFill>
              </a:rPr>
              <a:t>● </a:t>
            </a:r>
            <a:r>
              <a:rPr sz="1050">
                <a:solidFill>
                  <a:srgbClr val="1F2937"/>
                </a:solidFill>
              </a:rPr>
              <a:t>Dark mode ready</a:t>
            </a:r>
          </a:p>
        </p:txBody>
      </p:sp>
      <p:sp>
        <p:nvSpPr>
          <p:cNvPr id="16" name="Rectangle 15"/>
          <p:cNvSpPr/>
          <p:nvPr/>
        </p:nvSpPr>
        <p:spPr>
          <a:xfrm>
            <a:off x="6217920" y="2011680"/>
            <a:ext cx="2743200" cy="5943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2057400"/>
            <a:ext cx="2560320" cy="320040"/>
          </a:xfrm>
          <a:prstGeom prst="rect">
            <a:avLst/>
          </a:prstGeom>
          <a:noFill/>
        </p:spPr>
        <p:txBody>
          <a:bodyPr wrap="square">
            <a:spAutoFit/>
          </a:bodyPr>
          <a:lstStyle/>
          <a:p>
            <a:pPr algn="l"/>
            <a:r>
              <a:rPr sz="1300" b="1" i="0">
                <a:solidFill>
                  <a:srgbClr val="FFFFFF"/>
                </a:solidFill>
              </a:rPr>
              <a:t>🗂️ React Context API</a:t>
            </a:r>
          </a:p>
        </p:txBody>
      </p:sp>
      <p:sp>
        <p:nvSpPr>
          <p:cNvPr id="18" name="TextBox 17"/>
          <p:cNvSpPr txBox="1"/>
          <p:nvPr/>
        </p:nvSpPr>
        <p:spPr>
          <a:xfrm>
            <a:off x="6309360" y="2359152"/>
            <a:ext cx="2560320" cy="228600"/>
          </a:xfrm>
          <a:prstGeom prst="rect">
            <a:avLst/>
          </a:prstGeom>
          <a:noFill/>
        </p:spPr>
        <p:txBody>
          <a:bodyPr wrap="square">
            <a:spAutoFit/>
          </a:bodyPr>
          <a:lstStyle/>
          <a:p>
            <a:pPr algn="l"/>
            <a:r>
              <a:rPr sz="950" b="0" i="0">
                <a:solidFill>
                  <a:srgbClr val="E9D5FF"/>
                </a:solidFill>
              </a:rPr>
              <a:t>Global State Management</a:t>
            </a:r>
          </a:p>
        </p:txBody>
      </p:sp>
      <p:sp>
        <p:nvSpPr>
          <p:cNvPr id="19" name="TextBox 18"/>
          <p:cNvSpPr txBox="1"/>
          <p:nvPr/>
        </p:nvSpPr>
        <p:spPr>
          <a:xfrm>
            <a:off x="6309360" y="2697480"/>
            <a:ext cx="2560320" cy="3931920"/>
          </a:xfrm>
          <a:prstGeom prst="rect">
            <a:avLst/>
          </a:prstGeom>
          <a:noFill/>
        </p:spPr>
        <p:txBody>
          <a:bodyPr wrap="square">
            <a:spAutoFit/>
          </a:bodyPr>
          <a:lstStyle/>
          <a:p>
            <a:pPr>
              <a:spcBef>
                <a:spcPts val="400"/>
              </a:spcBef>
            </a:pPr>
            <a:r>
              <a:rPr sz="950" b="1">
                <a:solidFill>
                  <a:srgbClr val="7C3AED"/>
                </a:solidFill>
              </a:rPr>
              <a:t>● </a:t>
            </a:r>
            <a:r>
              <a:rPr sz="1050">
                <a:solidFill>
                  <a:srgbClr val="1F2937"/>
                </a:solidFill>
              </a:rPr>
              <a:t>AuthContext — who is logged in</a:t>
            </a:r>
          </a:p>
          <a:p>
            <a:pPr>
              <a:spcBef>
                <a:spcPts val="400"/>
              </a:spcBef>
            </a:pPr>
            <a:r>
              <a:rPr sz="950" b="1">
                <a:solidFill>
                  <a:srgbClr val="7C3AED"/>
                </a:solidFill>
              </a:rPr>
              <a:t>● </a:t>
            </a:r>
            <a:r>
              <a:rPr sz="1050">
                <a:solidFill>
                  <a:srgbClr val="1F2937"/>
                </a:solidFill>
              </a:rPr>
              <a:t>CartContext — shopping cart items</a:t>
            </a:r>
          </a:p>
          <a:p>
            <a:pPr>
              <a:spcBef>
                <a:spcPts val="400"/>
              </a:spcBef>
            </a:pPr>
            <a:r>
              <a:rPr sz="950" b="1">
                <a:solidFill>
                  <a:srgbClr val="7C3AED"/>
                </a:solidFill>
              </a:rPr>
              <a:t>● </a:t>
            </a:r>
            <a:r>
              <a:rPr sz="1050">
                <a:solidFill>
                  <a:srgbClr val="1F2937"/>
                </a:solidFill>
              </a:rPr>
              <a:t>LanguageContext — active language</a:t>
            </a:r>
          </a:p>
          <a:p>
            <a:pPr>
              <a:spcBef>
                <a:spcPts val="400"/>
              </a:spcBef>
            </a:pPr>
            <a:r>
              <a:rPr sz="950" b="1">
                <a:solidFill>
                  <a:srgbClr val="7C3AED"/>
                </a:solidFill>
              </a:rPr>
              <a:t>● </a:t>
            </a:r>
            <a:r>
              <a:rPr sz="1050">
                <a:solidFill>
                  <a:srgbClr val="1F2937"/>
                </a:solidFill>
              </a:rPr>
              <a:t>No Redux or Zustand needed</a:t>
            </a:r>
          </a:p>
          <a:p>
            <a:pPr>
              <a:spcBef>
                <a:spcPts val="400"/>
              </a:spcBef>
            </a:pPr>
            <a:r>
              <a:rPr sz="950" b="1">
                <a:solidFill>
                  <a:srgbClr val="7C3AED"/>
                </a:solidFill>
              </a:rPr>
              <a:t>● </a:t>
            </a:r>
            <a:r>
              <a:rPr sz="1050">
                <a:solidFill>
                  <a:srgbClr val="1F2937"/>
                </a:solidFill>
              </a:rPr>
              <a:t>Lightweight and built into React</a:t>
            </a:r>
          </a:p>
        </p:txBody>
      </p:sp>
      <p:sp>
        <p:nvSpPr>
          <p:cNvPr id="20" name="Rectangle 19"/>
          <p:cNvSpPr/>
          <p:nvPr/>
        </p:nvSpPr>
        <p:spPr>
          <a:xfrm>
            <a:off x="9144000" y="2011680"/>
            <a:ext cx="2743200" cy="5943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2057400"/>
            <a:ext cx="2560320" cy="320040"/>
          </a:xfrm>
          <a:prstGeom prst="rect">
            <a:avLst/>
          </a:prstGeom>
          <a:noFill/>
        </p:spPr>
        <p:txBody>
          <a:bodyPr wrap="square">
            <a:spAutoFit/>
          </a:bodyPr>
          <a:lstStyle/>
          <a:p>
            <a:pPr algn="l"/>
            <a:r>
              <a:rPr sz="1300" b="1" i="0">
                <a:solidFill>
                  <a:srgbClr val="FFFFFF"/>
                </a:solidFill>
              </a:rPr>
              <a:t>🌐 Custom i18n System</a:t>
            </a:r>
          </a:p>
        </p:txBody>
      </p:sp>
      <p:sp>
        <p:nvSpPr>
          <p:cNvPr id="22" name="TextBox 21"/>
          <p:cNvSpPr txBox="1"/>
          <p:nvPr/>
        </p:nvSpPr>
        <p:spPr>
          <a:xfrm>
            <a:off x="9235440" y="2359152"/>
            <a:ext cx="2560320" cy="228600"/>
          </a:xfrm>
          <a:prstGeom prst="rect">
            <a:avLst/>
          </a:prstGeom>
          <a:noFill/>
        </p:spPr>
        <p:txBody>
          <a:bodyPr wrap="square">
            <a:spAutoFit/>
          </a:bodyPr>
          <a:lstStyle/>
          <a:p>
            <a:pPr algn="l"/>
            <a:r>
              <a:rPr sz="950" b="0" i="0">
                <a:solidFill>
                  <a:srgbClr val="E9D5FF"/>
                </a:solidFill>
              </a:rPr>
              <a:t>8 Indian Languages</a:t>
            </a:r>
          </a:p>
        </p:txBody>
      </p:sp>
      <p:sp>
        <p:nvSpPr>
          <p:cNvPr id="23" name="TextBox 22"/>
          <p:cNvSpPr txBox="1"/>
          <p:nvPr/>
        </p:nvSpPr>
        <p:spPr>
          <a:xfrm>
            <a:off x="9235440" y="2697480"/>
            <a:ext cx="2560320" cy="3931920"/>
          </a:xfrm>
          <a:prstGeom prst="rect">
            <a:avLst/>
          </a:prstGeom>
          <a:noFill/>
        </p:spPr>
        <p:txBody>
          <a:bodyPr wrap="square">
            <a:spAutoFit/>
          </a:bodyPr>
          <a:lstStyle/>
          <a:p>
            <a:pPr>
              <a:spcBef>
                <a:spcPts val="400"/>
              </a:spcBef>
            </a:pPr>
            <a:r>
              <a:rPr sz="950" b="1">
                <a:solidFill>
                  <a:srgbClr val="7C3AED"/>
                </a:solidFill>
              </a:rPr>
              <a:t>● </a:t>
            </a:r>
            <a:r>
              <a:rPr sz="1050">
                <a:solidFill>
                  <a:srgbClr val="1F2937"/>
                </a:solidFill>
              </a:rPr>
              <a:t>English, Hindi, Marathi, Punjabi</a:t>
            </a:r>
          </a:p>
          <a:p>
            <a:pPr>
              <a:spcBef>
                <a:spcPts val="400"/>
              </a:spcBef>
            </a:pPr>
            <a:r>
              <a:rPr sz="950" b="1">
                <a:solidFill>
                  <a:srgbClr val="7C3AED"/>
                </a:solidFill>
              </a:rPr>
              <a:t>● </a:t>
            </a:r>
            <a:r>
              <a:rPr sz="1050">
                <a:solidFill>
                  <a:srgbClr val="1F2937"/>
                </a:solidFill>
              </a:rPr>
              <a:t>Telugu, Tamil, Bengali, Kannada</a:t>
            </a:r>
          </a:p>
          <a:p>
            <a:pPr>
              <a:spcBef>
                <a:spcPts val="400"/>
              </a:spcBef>
            </a:pPr>
            <a:r>
              <a:rPr sz="950" b="1">
                <a:solidFill>
                  <a:srgbClr val="7C3AED"/>
                </a:solidFill>
              </a:rPr>
              <a:t>● </a:t>
            </a:r>
            <a:r>
              <a:rPr sz="1050">
                <a:solidFill>
                  <a:srgbClr val="1F2937"/>
                </a:solidFill>
              </a:rPr>
              <a:t>80+ translated keys per language</a:t>
            </a:r>
          </a:p>
          <a:p>
            <a:pPr>
              <a:spcBef>
                <a:spcPts val="400"/>
              </a:spcBef>
            </a:pPr>
            <a:r>
              <a:rPr sz="950" b="1">
                <a:solidFill>
                  <a:srgbClr val="7C3AED"/>
                </a:solidFill>
              </a:rPr>
              <a:t>● </a:t>
            </a:r>
            <a:r>
              <a:rPr sz="1050">
                <a:solidFill>
                  <a:srgbClr val="1F2937"/>
                </a:solidFill>
              </a:rPr>
              <a:t>localStorage persistence on refresh</a:t>
            </a:r>
          </a:p>
          <a:p>
            <a:pPr>
              <a:spcBef>
                <a:spcPts val="400"/>
              </a:spcBef>
            </a:pPr>
            <a:r>
              <a:rPr sz="950" b="1">
                <a:solidFill>
                  <a:srgbClr val="7C3AED"/>
                </a:solidFill>
              </a:rPr>
              <a:t>● </a:t>
            </a:r>
            <a:r>
              <a:rPr sz="1050">
                <a:solidFill>
                  <a:srgbClr val="1F2937"/>
                </a:solidFill>
              </a:rPr>
              <a:t>Globe 🌐 dropdown in navbar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822960"/>
          </a:xfrm>
          <a:prstGeom prst="rect">
            <a:avLst/>
          </a:prstGeom>
          <a:noFill/>
        </p:spPr>
        <p:txBody>
          <a:bodyPr wrap="square">
            <a:spAutoFit/>
          </a:bodyPr>
          <a:lstStyle/>
          <a:p>
            <a:pPr algn="l"/>
            <a:r>
              <a:rPr sz="3000" b="1" i="0">
                <a:solidFill>
                  <a:srgbClr val="FFFFFF"/>
                </a:solidFill>
              </a:rPr>
              <a:t>Tech Stack — Backend &amp; Database</a:t>
            </a: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548640" y="1097280"/>
            <a:ext cx="10972800" cy="685800"/>
          </a:xfrm>
          <a:prstGeom prst="rect">
            <a:avLst/>
          </a:prstGeom>
          <a:noFill/>
        </p:spPr>
        <p:txBody>
          <a:bodyPr wrap="square">
            <a:spAutoFit/>
          </a:bodyPr>
          <a:lstStyle/>
          <a:p>
            <a:pPr algn="l"/>
            <a:r>
              <a:rPr sz="1350" b="0" i="0">
                <a:solidFill>
                  <a:srgbClr val="1F2937"/>
                </a:solidFill>
              </a:rPr>
              <a:t>The backend is the invisible engine of KisanConnect. It handles all the business logic — user authentication, crop management, order processing, and secure payments. The database stores everything permanently and is accessible in zero seconds without any setup.</a:t>
            </a:r>
          </a:p>
        </p:txBody>
      </p:sp>
      <p:sp>
        <p:nvSpPr>
          <p:cNvPr id="7" name="Rectangle 6"/>
          <p:cNvSpPr/>
          <p:nvPr/>
        </p:nvSpPr>
        <p:spPr>
          <a:xfrm>
            <a:off x="594360" y="1874519"/>
            <a:ext cx="109728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011680"/>
            <a:ext cx="3566160" cy="5943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57400"/>
            <a:ext cx="3383280" cy="320040"/>
          </a:xfrm>
          <a:prstGeom prst="rect">
            <a:avLst/>
          </a:prstGeom>
          <a:noFill/>
        </p:spPr>
        <p:txBody>
          <a:bodyPr wrap="square">
            <a:spAutoFit/>
          </a:bodyPr>
          <a:lstStyle/>
          <a:p>
            <a:pPr algn="l"/>
            <a:r>
              <a:rPr sz="1300" b="1" i="0">
                <a:solidFill>
                  <a:srgbClr val="FFFFFF"/>
                </a:solidFill>
              </a:rPr>
              <a:t>🚂 Express.js 4.21</a:t>
            </a:r>
          </a:p>
        </p:txBody>
      </p:sp>
      <p:sp>
        <p:nvSpPr>
          <p:cNvPr id="10" name="TextBox 9"/>
          <p:cNvSpPr txBox="1"/>
          <p:nvPr/>
        </p:nvSpPr>
        <p:spPr>
          <a:xfrm>
            <a:off x="457200" y="2359152"/>
            <a:ext cx="3383280" cy="228600"/>
          </a:xfrm>
          <a:prstGeom prst="rect">
            <a:avLst/>
          </a:prstGeom>
          <a:noFill/>
        </p:spPr>
        <p:txBody>
          <a:bodyPr wrap="square">
            <a:spAutoFit/>
          </a:bodyPr>
          <a:lstStyle/>
          <a:p>
            <a:pPr algn="l"/>
            <a:r>
              <a:rPr sz="950" b="0" i="0">
                <a:solidFill>
                  <a:srgbClr val="99F6E4"/>
                </a:solidFill>
              </a:rPr>
              <a:t>REST API Framework</a:t>
            </a:r>
          </a:p>
        </p:txBody>
      </p:sp>
      <p:sp>
        <p:nvSpPr>
          <p:cNvPr id="11" name="TextBox 10"/>
          <p:cNvSpPr txBox="1"/>
          <p:nvPr/>
        </p:nvSpPr>
        <p:spPr>
          <a:xfrm>
            <a:off x="457200" y="2697480"/>
            <a:ext cx="3383280" cy="3200400"/>
          </a:xfrm>
          <a:prstGeom prst="rect">
            <a:avLst/>
          </a:prstGeom>
          <a:noFill/>
        </p:spPr>
        <p:txBody>
          <a:bodyPr wrap="square">
            <a:spAutoFit/>
          </a:bodyPr>
          <a:lstStyle/>
          <a:p>
            <a:pPr>
              <a:spcBef>
                <a:spcPts val="400"/>
              </a:spcBef>
            </a:pPr>
            <a:r>
              <a:rPr sz="1000" b="1">
                <a:solidFill>
                  <a:srgbClr val="0F766E"/>
                </a:solidFill>
              </a:rPr>
              <a:t>● </a:t>
            </a:r>
            <a:r>
              <a:rPr sz="1100">
                <a:solidFill>
                  <a:srgbClr val="1F2937"/>
                </a:solidFill>
              </a:rPr>
              <a:t>Runs on Node.js at port 5000</a:t>
            </a:r>
          </a:p>
          <a:p>
            <a:pPr>
              <a:spcBef>
                <a:spcPts val="400"/>
              </a:spcBef>
            </a:pPr>
            <a:r>
              <a:rPr sz="1000" b="1">
                <a:solidFill>
                  <a:srgbClr val="0F766E"/>
                </a:solidFill>
              </a:rPr>
              <a:t>● </a:t>
            </a:r>
            <a:r>
              <a:rPr sz="1100">
                <a:solidFill>
                  <a:srgbClr val="1F2937"/>
                </a:solidFill>
              </a:rPr>
              <a:t>Routes: /api/auth, /api/produce,
  /api/orders, /api/hubs</a:t>
            </a:r>
          </a:p>
          <a:p>
            <a:pPr>
              <a:spcBef>
                <a:spcPts val="400"/>
              </a:spcBef>
            </a:pPr>
            <a:r>
              <a:rPr sz="1000" b="1">
                <a:solidFill>
                  <a:srgbClr val="0F766E"/>
                </a:solidFill>
              </a:rPr>
              <a:t>● </a:t>
            </a:r>
            <a:r>
              <a:rPr sz="1100">
                <a:solidFill>
                  <a:srgbClr val="1F2937"/>
                </a:solidFill>
              </a:rPr>
              <a:t>MVC pattern: Routes → Controllers</a:t>
            </a:r>
          </a:p>
          <a:p>
            <a:pPr>
              <a:spcBef>
                <a:spcPts val="400"/>
              </a:spcBef>
            </a:pPr>
            <a:r>
              <a:rPr sz="1000" b="1">
                <a:solidFill>
                  <a:srgbClr val="0F766E"/>
                </a:solidFill>
              </a:rPr>
              <a:t>● </a:t>
            </a:r>
            <a:r>
              <a:rPr sz="1100">
                <a:solidFill>
                  <a:srgbClr val="1F2937"/>
                </a:solidFill>
              </a:rPr>
              <a:t>CORS enabled for frontend access</a:t>
            </a:r>
          </a:p>
          <a:p>
            <a:pPr>
              <a:spcBef>
                <a:spcPts val="400"/>
              </a:spcBef>
            </a:pPr>
            <a:r>
              <a:rPr sz="1000" b="1">
                <a:solidFill>
                  <a:srgbClr val="0F766E"/>
                </a:solidFill>
              </a:rPr>
              <a:t>● </a:t>
            </a:r>
            <a:r>
              <a:rPr sz="1100">
                <a:solidFill>
                  <a:srgbClr val="1F2937"/>
                </a:solidFill>
              </a:rPr>
              <a:t>Health check endpoint included</a:t>
            </a:r>
          </a:p>
        </p:txBody>
      </p:sp>
      <p:sp>
        <p:nvSpPr>
          <p:cNvPr id="12" name="Rectangle 11"/>
          <p:cNvSpPr/>
          <p:nvPr/>
        </p:nvSpPr>
        <p:spPr>
          <a:xfrm>
            <a:off x="4206240" y="2011680"/>
            <a:ext cx="3566160" cy="5943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2057400"/>
            <a:ext cx="3383280" cy="320040"/>
          </a:xfrm>
          <a:prstGeom prst="rect">
            <a:avLst/>
          </a:prstGeom>
          <a:noFill/>
        </p:spPr>
        <p:txBody>
          <a:bodyPr wrap="square">
            <a:spAutoFit/>
          </a:bodyPr>
          <a:lstStyle/>
          <a:p>
            <a:pPr algn="l"/>
            <a:r>
              <a:rPr sz="1300" b="1" i="0">
                <a:solidFill>
                  <a:srgbClr val="FFFFFF"/>
                </a:solidFill>
              </a:rPr>
              <a:t>🔐 JWT + BCrypt</a:t>
            </a:r>
          </a:p>
        </p:txBody>
      </p:sp>
      <p:sp>
        <p:nvSpPr>
          <p:cNvPr id="14" name="TextBox 13"/>
          <p:cNvSpPr txBox="1"/>
          <p:nvPr/>
        </p:nvSpPr>
        <p:spPr>
          <a:xfrm>
            <a:off x="4297680" y="2359152"/>
            <a:ext cx="3383280" cy="228600"/>
          </a:xfrm>
          <a:prstGeom prst="rect">
            <a:avLst/>
          </a:prstGeom>
          <a:noFill/>
        </p:spPr>
        <p:txBody>
          <a:bodyPr wrap="square">
            <a:spAutoFit/>
          </a:bodyPr>
          <a:lstStyle/>
          <a:p>
            <a:pPr algn="l"/>
            <a:r>
              <a:rPr sz="950" b="0" i="0">
                <a:solidFill>
                  <a:srgbClr val="99F6E4"/>
                </a:solidFill>
              </a:rPr>
              <a:t>Authentication &amp; Security</a:t>
            </a:r>
          </a:p>
        </p:txBody>
      </p:sp>
      <p:sp>
        <p:nvSpPr>
          <p:cNvPr id="15" name="TextBox 14"/>
          <p:cNvSpPr txBox="1"/>
          <p:nvPr/>
        </p:nvSpPr>
        <p:spPr>
          <a:xfrm>
            <a:off x="4297680" y="2697480"/>
            <a:ext cx="3383280" cy="3200400"/>
          </a:xfrm>
          <a:prstGeom prst="rect">
            <a:avLst/>
          </a:prstGeom>
          <a:noFill/>
        </p:spPr>
        <p:txBody>
          <a:bodyPr wrap="square">
            <a:spAutoFit/>
          </a:bodyPr>
          <a:lstStyle/>
          <a:p>
            <a:pPr>
              <a:spcBef>
                <a:spcPts val="400"/>
              </a:spcBef>
            </a:pPr>
            <a:r>
              <a:rPr sz="1000" b="1">
                <a:solidFill>
                  <a:srgbClr val="0F766E"/>
                </a:solidFill>
              </a:rPr>
              <a:t>● </a:t>
            </a:r>
            <a:r>
              <a:rPr sz="1100">
                <a:solidFill>
                  <a:srgbClr val="1F2937"/>
                </a:solidFill>
              </a:rPr>
              <a:t>JWT tokens issued on login</a:t>
            </a:r>
          </a:p>
          <a:p>
            <a:pPr>
              <a:spcBef>
                <a:spcPts val="400"/>
              </a:spcBef>
            </a:pPr>
            <a:r>
              <a:rPr sz="1000" b="1">
                <a:solidFill>
                  <a:srgbClr val="0F766E"/>
                </a:solidFill>
              </a:rPr>
              <a:t>● </a:t>
            </a:r>
            <a:r>
              <a:rPr sz="1100">
                <a:solidFill>
                  <a:srgbClr val="1F2937"/>
                </a:solidFill>
              </a:rPr>
              <a:t>7-day token expiry</a:t>
            </a:r>
          </a:p>
          <a:p>
            <a:pPr>
              <a:spcBef>
                <a:spcPts val="400"/>
              </a:spcBef>
            </a:pPr>
            <a:r>
              <a:rPr sz="1000" b="1">
                <a:solidFill>
                  <a:srgbClr val="0F766E"/>
                </a:solidFill>
              </a:rPr>
              <a:t>● </a:t>
            </a:r>
            <a:r>
              <a:rPr sz="1100">
                <a:solidFill>
                  <a:srgbClr val="1F2937"/>
                </a:solidFill>
              </a:rPr>
              <a:t>BCrypt hashing — salt rounds = 10</a:t>
            </a:r>
          </a:p>
          <a:p>
            <a:pPr>
              <a:spcBef>
                <a:spcPts val="400"/>
              </a:spcBef>
            </a:pPr>
            <a:r>
              <a:rPr sz="1000" b="1">
                <a:solidFill>
                  <a:srgbClr val="0F766E"/>
                </a:solidFill>
              </a:rPr>
              <a:t>● </a:t>
            </a:r>
            <a:r>
              <a:rPr sz="1100">
                <a:solidFill>
                  <a:srgbClr val="1F2937"/>
                </a:solidFill>
              </a:rPr>
              <a:t>Passwords never stored in plain text</a:t>
            </a:r>
          </a:p>
          <a:p>
            <a:pPr>
              <a:spcBef>
                <a:spcPts val="400"/>
              </a:spcBef>
            </a:pPr>
            <a:r>
              <a:rPr sz="1000" b="1">
                <a:solidFill>
                  <a:srgbClr val="0F766E"/>
                </a:solidFill>
              </a:rPr>
              <a:t>● </a:t>
            </a:r>
            <a:r>
              <a:rPr sz="1100">
                <a:solidFill>
                  <a:srgbClr val="1F2937"/>
                </a:solidFill>
              </a:rPr>
              <a:t>requireRole() middleware for guards</a:t>
            </a:r>
          </a:p>
        </p:txBody>
      </p:sp>
      <p:sp>
        <p:nvSpPr>
          <p:cNvPr id="16" name="Rectangle 15"/>
          <p:cNvSpPr/>
          <p:nvPr/>
        </p:nvSpPr>
        <p:spPr>
          <a:xfrm>
            <a:off x="8046720" y="2011680"/>
            <a:ext cx="3566160" cy="5943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2057400"/>
            <a:ext cx="3383280" cy="320040"/>
          </a:xfrm>
          <a:prstGeom prst="rect">
            <a:avLst/>
          </a:prstGeom>
          <a:noFill/>
        </p:spPr>
        <p:txBody>
          <a:bodyPr wrap="square">
            <a:spAutoFit/>
          </a:bodyPr>
          <a:lstStyle/>
          <a:p>
            <a:pPr algn="l"/>
            <a:r>
              <a:rPr sz="1300" b="1" i="0">
                <a:solidFill>
                  <a:srgbClr val="FFFFFF"/>
                </a:solidFill>
              </a:rPr>
              <a:t>📸 Multer</a:t>
            </a:r>
          </a:p>
        </p:txBody>
      </p:sp>
      <p:sp>
        <p:nvSpPr>
          <p:cNvPr id="18" name="TextBox 17"/>
          <p:cNvSpPr txBox="1"/>
          <p:nvPr/>
        </p:nvSpPr>
        <p:spPr>
          <a:xfrm>
            <a:off x="8138160" y="2359152"/>
            <a:ext cx="3383280" cy="228600"/>
          </a:xfrm>
          <a:prstGeom prst="rect">
            <a:avLst/>
          </a:prstGeom>
          <a:noFill/>
        </p:spPr>
        <p:txBody>
          <a:bodyPr wrap="square">
            <a:spAutoFit/>
          </a:bodyPr>
          <a:lstStyle/>
          <a:p>
            <a:pPr algn="l"/>
            <a:r>
              <a:rPr sz="950" b="0" i="0">
                <a:solidFill>
                  <a:srgbClr val="99F6E4"/>
                </a:solidFill>
              </a:rPr>
              <a:t>File Upload Handling</a:t>
            </a:r>
          </a:p>
        </p:txBody>
      </p:sp>
      <p:sp>
        <p:nvSpPr>
          <p:cNvPr id="19" name="TextBox 18"/>
          <p:cNvSpPr txBox="1"/>
          <p:nvPr/>
        </p:nvSpPr>
        <p:spPr>
          <a:xfrm>
            <a:off x="8138160" y="2697480"/>
            <a:ext cx="3383280" cy="3200400"/>
          </a:xfrm>
          <a:prstGeom prst="rect">
            <a:avLst/>
          </a:prstGeom>
          <a:noFill/>
        </p:spPr>
        <p:txBody>
          <a:bodyPr wrap="square">
            <a:spAutoFit/>
          </a:bodyPr>
          <a:lstStyle/>
          <a:p>
            <a:pPr>
              <a:spcBef>
                <a:spcPts val="400"/>
              </a:spcBef>
            </a:pPr>
            <a:r>
              <a:rPr sz="1000" b="1">
                <a:solidFill>
                  <a:srgbClr val="0F766E"/>
                </a:solidFill>
              </a:rPr>
              <a:t>● </a:t>
            </a:r>
            <a:r>
              <a:rPr sz="1100">
                <a:solidFill>
                  <a:srgbClr val="1F2937"/>
                </a:solidFill>
              </a:rPr>
              <a:t>Handles crop photo uploads</a:t>
            </a:r>
          </a:p>
          <a:p>
            <a:pPr>
              <a:spcBef>
                <a:spcPts val="400"/>
              </a:spcBef>
            </a:pPr>
            <a:r>
              <a:rPr sz="1000" b="1">
                <a:solidFill>
                  <a:srgbClr val="0F766E"/>
                </a:solidFill>
              </a:rPr>
              <a:t>● </a:t>
            </a:r>
            <a:r>
              <a:rPr sz="1100">
                <a:solidFill>
                  <a:srgbClr val="1F2937"/>
                </a:solidFill>
              </a:rPr>
              <a:t>Multipart/form-data support</a:t>
            </a:r>
          </a:p>
          <a:p>
            <a:pPr>
              <a:spcBef>
                <a:spcPts val="400"/>
              </a:spcBef>
            </a:pPr>
            <a:r>
              <a:rPr sz="1000" b="1">
                <a:solidFill>
                  <a:srgbClr val="0F766E"/>
                </a:solidFill>
              </a:rPr>
              <a:t>● </a:t>
            </a:r>
            <a:r>
              <a:rPr sz="1100">
                <a:solidFill>
                  <a:srgbClr val="1F2937"/>
                </a:solidFill>
              </a:rPr>
              <a:t>Files saved to uploads/ folder</a:t>
            </a:r>
          </a:p>
          <a:p>
            <a:pPr>
              <a:spcBef>
                <a:spcPts val="400"/>
              </a:spcBef>
            </a:pPr>
            <a:r>
              <a:rPr sz="1000" b="1">
                <a:solidFill>
                  <a:srgbClr val="0F766E"/>
                </a:solidFill>
              </a:rPr>
              <a:t>● </a:t>
            </a:r>
            <a:r>
              <a:rPr sz="1100">
                <a:solidFill>
                  <a:srgbClr val="1F2937"/>
                </a:solidFill>
              </a:rPr>
              <a:t>File type and size validation</a:t>
            </a:r>
          </a:p>
          <a:p>
            <a:pPr>
              <a:spcBef>
                <a:spcPts val="400"/>
              </a:spcBef>
            </a:pPr>
            <a:r>
              <a:rPr sz="1000" b="1">
                <a:solidFill>
                  <a:srgbClr val="0F766E"/>
                </a:solidFill>
              </a:rPr>
              <a:t>● </a:t>
            </a:r>
            <a:r>
              <a:rPr sz="1100">
                <a:solidFill>
                  <a:srgbClr val="1F2937"/>
                </a:solidFill>
              </a:rPr>
              <a:t>Image URL stored in DB record</a:t>
            </a:r>
          </a:p>
        </p:txBody>
      </p:sp>
      <p:sp>
        <p:nvSpPr>
          <p:cNvPr id="20" name="Rectangle 19"/>
          <p:cNvSpPr/>
          <p:nvPr/>
        </p:nvSpPr>
        <p:spPr>
          <a:xfrm>
            <a:off x="365760" y="5623560"/>
            <a:ext cx="114300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5715000"/>
            <a:ext cx="5486400" cy="5486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5760720"/>
            <a:ext cx="5303520" cy="411480"/>
          </a:xfrm>
          <a:prstGeom prst="rect">
            <a:avLst/>
          </a:prstGeom>
          <a:noFill/>
        </p:spPr>
        <p:txBody>
          <a:bodyPr wrap="square">
            <a:spAutoFit/>
          </a:bodyPr>
          <a:lstStyle/>
          <a:p>
            <a:pPr algn="l"/>
            <a:r>
              <a:rPr sz="1200" b="1" i="0">
                <a:solidFill>
                  <a:srgbClr val="FFFFFF"/>
                </a:solidFill>
              </a:rPr>
              <a:t>🧠 Prisma ORM 5.19  |  Database Layer</a:t>
            </a:r>
          </a:p>
        </p:txBody>
      </p:sp>
      <p:sp>
        <p:nvSpPr>
          <p:cNvPr id="23" name="TextBox 22"/>
          <p:cNvSpPr txBox="1"/>
          <p:nvPr/>
        </p:nvSpPr>
        <p:spPr>
          <a:xfrm>
            <a:off x="457200" y="6327648"/>
            <a:ext cx="5303520" cy="457200"/>
          </a:xfrm>
          <a:prstGeom prst="rect">
            <a:avLst/>
          </a:prstGeom>
          <a:noFill/>
        </p:spPr>
        <p:txBody>
          <a:bodyPr wrap="square">
            <a:spAutoFit/>
          </a:bodyPr>
          <a:lstStyle/>
          <a:p>
            <a:pPr algn="l"/>
            <a:r>
              <a:rPr sz="1000" b="0" i="0">
                <a:solidFill>
                  <a:srgbClr val="1F2937"/>
                </a:solidFill>
              </a:rPr>
              <a:t>   •  Type-safe queries in TypeScript   •  Auto-generates Prisma Client   •  prisma db push — sync schema</a:t>
            </a:r>
          </a:p>
        </p:txBody>
      </p:sp>
      <p:sp>
        <p:nvSpPr>
          <p:cNvPr id="24" name="Rectangle 23"/>
          <p:cNvSpPr/>
          <p:nvPr/>
        </p:nvSpPr>
        <p:spPr>
          <a:xfrm>
            <a:off x="6263640" y="5715000"/>
            <a:ext cx="5486400" cy="5486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5760720"/>
            <a:ext cx="5303520" cy="411480"/>
          </a:xfrm>
          <a:prstGeom prst="rect">
            <a:avLst/>
          </a:prstGeom>
          <a:noFill/>
        </p:spPr>
        <p:txBody>
          <a:bodyPr wrap="square">
            <a:spAutoFit/>
          </a:bodyPr>
          <a:lstStyle/>
          <a:p>
            <a:pPr algn="l"/>
            <a:r>
              <a:rPr sz="1200" b="1" i="0">
                <a:solidFill>
                  <a:srgbClr val="FFFFFF"/>
                </a:solidFill>
              </a:rPr>
              <a:t>🗃️ SQLite  |  Local Database</a:t>
            </a:r>
          </a:p>
        </p:txBody>
      </p:sp>
      <p:sp>
        <p:nvSpPr>
          <p:cNvPr id="26" name="TextBox 25"/>
          <p:cNvSpPr txBox="1"/>
          <p:nvPr/>
        </p:nvSpPr>
        <p:spPr>
          <a:xfrm>
            <a:off x="6355080" y="6327648"/>
            <a:ext cx="5303520" cy="457200"/>
          </a:xfrm>
          <a:prstGeom prst="rect">
            <a:avLst/>
          </a:prstGeom>
          <a:noFill/>
        </p:spPr>
        <p:txBody>
          <a:bodyPr wrap="square">
            <a:spAutoFit/>
          </a:bodyPr>
          <a:lstStyle/>
          <a:p>
            <a:pPr algn="l"/>
            <a:r>
              <a:rPr sz="1000" b="0" i="0">
                <a:solidFill>
                  <a:srgbClr val="1F2937"/>
                </a:solidFill>
              </a:rPr>
              <a:t>   •  Zero installation required   •  Single file: prisma/dev.db   •  Works without Docker on Windows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822960"/>
          </a:xfrm>
          <a:prstGeom prst="rect">
            <a:avLst/>
          </a:prstGeom>
          <a:noFill/>
        </p:spPr>
        <p:txBody>
          <a:bodyPr wrap="square">
            <a:spAutoFit/>
          </a:bodyPr>
          <a:lstStyle/>
          <a:p>
            <a:pPr algn="l"/>
            <a:r>
              <a:rPr sz="3000" b="1" i="0">
                <a:solidFill>
                  <a:srgbClr val="FFFFFF"/>
                </a:solidFill>
              </a:rPr>
              <a:t>Database Design</a:t>
            </a: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548640" y="1097280"/>
            <a:ext cx="10972800" cy="685800"/>
          </a:xfrm>
          <a:prstGeom prst="rect">
            <a:avLst/>
          </a:prstGeom>
          <a:noFill/>
        </p:spPr>
        <p:txBody>
          <a:bodyPr wrap="square">
            <a:spAutoFit/>
          </a:bodyPr>
          <a:lstStyle/>
          <a:p>
            <a:pPr algn="l"/>
            <a:r>
              <a:rPr sz="1400" b="0" i="0">
                <a:solidFill>
                  <a:srgbClr val="1F2937"/>
                </a:solidFill>
              </a:rPr>
              <a:t>KisanConnect uses 4 core database tables (models) connected with relationships. Prisma ORM manages all data operations. The schema is designed to be simple, scalable, and easy to extend with new features like payment gateway or ratings.</a:t>
            </a:r>
          </a:p>
        </p:txBody>
      </p:sp>
      <p:sp>
        <p:nvSpPr>
          <p:cNvPr id="7" name="Rectangle 6"/>
          <p:cNvSpPr/>
          <p:nvPr/>
        </p:nvSpPr>
        <p:spPr>
          <a:xfrm>
            <a:off x="365760" y="1920240"/>
            <a:ext cx="2743200" cy="50292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65960"/>
            <a:ext cx="2560320" cy="411480"/>
          </a:xfrm>
          <a:prstGeom prst="rect">
            <a:avLst/>
          </a:prstGeom>
          <a:noFill/>
        </p:spPr>
        <p:txBody>
          <a:bodyPr wrap="square">
            <a:spAutoFit/>
          </a:bodyPr>
          <a:lstStyle/>
          <a:p>
            <a:pPr algn="ctr"/>
            <a:r>
              <a:rPr sz="1400" b="1" i="0">
                <a:solidFill>
                  <a:srgbClr val="FFFFFF"/>
                </a:solidFill>
              </a:rPr>
              <a:t>👤 USER</a:t>
            </a:r>
          </a:p>
        </p:txBody>
      </p:sp>
      <p:sp>
        <p:nvSpPr>
          <p:cNvPr id="9" name="TextBox 8"/>
          <p:cNvSpPr txBox="1"/>
          <p:nvPr/>
        </p:nvSpPr>
        <p:spPr>
          <a:xfrm>
            <a:off x="457200" y="2487168"/>
            <a:ext cx="2560320" cy="4114800"/>
          </a:xfrm>
          <a:prstGeom prst="rect">
            <a:avLst/>
          </a:prstGeom>
          <a:noFill/>
        </p:spPr>
        <p:txBody>
          <a:bodyPr wrap="square">
            <a:spAutoFit/>
          </a:bodyPr>
          <a:lstStyle/>
          <a:p>
            <a:pPr>
              <a:spcBef>
                <a:spcPts val="400"/>
              </a:spcBef>
            </a:pPr>
            <a:r>
              <a:rPr sz="950" b="1">
                <a:solidFill>
                  <a:srgbClr val="064E3B"/>
                </a:solidFill>
              </a:rPr>
              <a:t>● </a:t>
            </a:r>
            <a:r>
              <a:rPr sz="1050">
                <a:solidFill>
                  <a:srgbClr val="1F2937"/>
                </a:solidFill>
              </a:rPr>
              <a:t>id — unique identifier</a:t>
            </a:r>
          </a:p>
          <a:p>
            <a:pPr>
              <a:spcBef>
                <a:spcPts val="400"/>
              </a:spcBef>
            </a:pPr>
            <a:r>
              <a:rPr sz="950" b="1">
                <a:solidFill>
                  <a:srgbClr val="064E3B"/>
                </a:solidFill>
              </a:rPr>
              <a:t>● </a:t>
            </a:r>
            <a:r>
              <a:rPr sz="1050">
                <a:solidFill>
                  <a:srgbClr val="1F2937"/>
                </a:solidFill>
              </a:rPr>
              <a:t>name, phone, email</a:t>
            </a:r>
          </a:p>
          <a:p>
            <a:pPr>
              <a:spcBef>
                <a:spcPts val="400"/>
              </a:spcBef>
            </a:pPr>
            <a:r>
              <a:rPr sz="950" b="1">
                <a:solidFill>
                  <a:srgbClr val="064E3B"/>
                </a:solidFill>
              </a:rPr>
              <a:t>● </a:t>
            </a:r>
            <a:r>
              <a:rPr sz="1050">
                <a:solidFill>
                  <a:srgbClr val="1F2937"/>
                </a:solidFill>
              </a:rPr>
              <a:t>password — bcrypt hashed</a:t>
            </a:r>
          </a:p>
          <a:p>
            <a:pPr>
              <a:spcBef>
                <a:spcPts val="400"/>
              </a:spcBef>
            </a:pPr>
            <a:r>
              <a:rPr sz="950" b="1">
                <a:solidFill>
                  <a:srgbClr val="064E3B"/>
                </a:solidFill>
              </a:rPr>
              <a:t>● </a:t>
            </a:r>
            <a:r>
              <a:rPr sz="1050">
                <a:solidFill>
                  <a:srgbClr val="1F2937"/>
                </a:solidFill>
              </a:rPr>
              <a:t>role — FARMER / BUYER / ADMIN</a:t>
            </a:r>
          </a:p>
          <a:p>
            <a:pPr>
              <a:spcBef>
                <a:spcPts val="400"/>
              </a:spcBef>
            </a:pPr>
            <a:r>
              <a:rPr sz="950" b="1">
                <a:solidFill>
                  <a:srgbClr val="064E3B"/>
                </a:solidFill>
              </a:rPr>
              <a:t>● </a:t>
            </a:r>
            <a:r>
              <a:rPr sz="1050">
                <a:solidFill>
                  <a:srgbClr val="1F2937"/>
                </a:solidFill>
              </a:rPr>
              <a:t>location, language</a:t>
            </a:r>
          </a:p>
          <a:p>
            <a:pPr>
              <a:spcBef>
                <a:spcPts val="400"/>
              </a:spcBef>
            </a:pPr>
            <a:r>
              <a:rPr sz="950" b="1">
                <a:solidFill>
                  <a:srgbClr val="064E3B"/>
                </a:solidFill>
              </a:rPr>
              <a:t>● </a:t>
            </a:r>
            <a:r>
              <a:rPr sz="1050">
                <a:solidFill>
                  <a:srgbClr val="1F2937"/>
                </a:solidFill>
              </a:rPr>
              <a:t>createdAt, updatedAt</a:t>
            </a:r>
          </a:p>
        </p:txBody>
      </p:sp>
      <p:sp>
        <p:nvSpPr>
          <p:cNvPr id="10" name="Rectangle 9"/>
          <p:cNvSpPr/>
          <p:nvPr/>
        </p:nvSpPr>
        <p:spPr>
          <a:xfrm>
            <a:off x="3291840" y="1920240"/>
            <a:ext cx="2743200" cy="502920"/>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965960"/>
            <a:ext cx="2560320" cy="411480"/>
          </a:xfrm>
          <a:prstGeom prst="rect">
            <a:avLst/>
          </a:prstGeom>
          <a:noFill/>
        </p:spPr>
        <p:txBody>
          <a:bodyPr wrap="square">
            <a:spAutoFit/>
          </a:bodyPr>
          <a:lstStyle/>
          <a:p>
            <a:pPr algn="ctr"/>
            <a:r>
              <a:rPr sz="1400" b="1" i="0">
                <a:solidFill>
                  <a:srgbClr val="FFFFFF"/>
                </a:solidFill>
              </a:rPr>
              <a:t>🌽 PRODUCE</a:t>
            </a:r>
          </a:p>
        </p:txBody>
      </p:sp>
      <p:sp>
        <p:nvSpPr>
          <p:cNvPr id="12" name="TextBox 11"/>
          <p:cNvSpPr txBox="1"/>
          <p:nvPr/>
        </p:nvSpPr>
        <p:spPr>
          <a:xfrm>
            <a:off x="3383280" y="2487168"/>
            <a:ext cx="2560320" cy="4114800"/>
          </a:xfrm>
          <a:prstGeom prst="rect">
            <a:avLst/>
          </a:prstGeom>
          <a:noFill/>
        </p:spPr>
        <p:txBody>
          <a:bodyPr wrap="square">
            <a:spAutoFit/>
          </a:bodyPr>
          <a:lstStyle/>
          <a:p>
            <a:pPr>
              <a:spcBef>
                <a:spcPts val="400"/>
              </a:spcBef>
            </a:pPr>
            <a:r>
              <a:rPr sz="950" b="1">
                <a:solidFill>
                  <a:srgbClr val="067A45"/>
                </a:solidFill>
              </a:rPr>
              <a:t>● </a:t>
            </a:r>
            <a:r>
              <a:rPr sz="1050">
                <a:solidFill>
                  <a:srgbClr val="1F2937"/>
                </a:solidFill>
              </a:rPr>
              <a:t>id — unique identifier</a:t>
            </a:r>
          </a:p>
          <a:p>
            <a:pPr>
              <a:spcBef>
                <a:spcPts val="400"/>
              </a:spcBef>
            </a:pPr>
            <a:r>
              <a:rPr sz="950" b="1">
                <a:solidFill>
                  <a:srgbClr val="067A45"/>
                </a:solidFill>
              </a:rPr>
              <a:t>● </a:t>
            </a:r>
            <a:r>
              <a:rPr sz="1050">
                <a:solidFill>
                  <a:srgbClr val="1F2937"/>
                </a:solidFill>
              </a:rPr>
              <a:t>farmerId → links to User</a:t>
            </a:r>
          </a:p>
          <a:p>
            <a:pPr>
              <a:spcBef>
                <a:spcPts val="400"/>
              </a:spcBef>
            </a:pPr>
            <a:r>
              <a:rPr sz="950" b="1">
                <a:solidFill>
                  <a:srgbClr val="067A45"/>
                </a:solidFill>
              </a:rPr>
              <a:t>● </a:t>
            </a:r>
            <a:r>
              <a:rPr sz="1050">
                <a:solidFill>
                  <a:srgbClr val="1F2937"/>
                </a:solidFill>
              </a:rPr>
              <a:t>name, category, quantity, unit</a:t>
            </a:r>
          </a:p>
          <a:p>
            <a:pPr>
              <a:spcBef>
                <a:spcPts val="400"/>
              </a:spcBef>
            </a:pPr>
            <a:r>
              <a:rPr sz="950" b="1">
                <a:solidFill>
                  <a:srgbClr val="067A45"/>
                </a:solidFill>
              </a:rPr>
              <a:t>● </a:t>
            </a:r>
            <a:r>
              <a:rPr sz="1050">
                <a:solidFill>
                  <a:srgbClr val="1F2937"/>
                </a:solidFill>
              </a:rPr>
              <a:t>pricePerUnit, qualityGrade</a:t>
            </a:r>
          </a:p>
          <a:p>
            <a:pPr>
              <a:spcBef>
                <a:spcPts val="400"/>
              </a:spcBef>
            </a:pPr>
            <a:r>
              <a:rPr sz="950" b="1">
                <a:solidFill>
                  <a:srgbClr val="067A45"/>
                </a:solidFill>
              </a:rPr>
              <a:t>● </a:t>
            </a:r>
            <a:r>
              <a:rPr sz="1050">
                <a:solidFill>
                  <a:srgbClr val="1F2937"/>
                </a:solidFill>
              </a:rPr>
              <a:t>harvestDate, imageUrl, status</a:t>
            </a:r>
          </a:p>
          <a:p>
            <a:pPr>
              <a:spcBef>
                <a:spcPts val="400"/>
              </a:spcBef>
            </a:pPr>
            <a:r>
              <a:rPr sz="950" b="1">
                <a:solidFill>
                  <a:srgbClr val="067A45"/>
                </a:solidFill>
              </a:rPr>
              <a:t>● </a:t>
            </a:r>
            <a:r>
              <a:rPr sz="1050">
                <a:solidFill>
                  <a:srgbClr val="1F2937"/>
                </a:solidFill>
              </a:rPr>
              <a:t>hubId → links to Hub</a:t>
            </a:r>
          </a:p>
        </p:txBody>
      </p:sp>
      <p:sp>
        <p:nvSpPr>
          <p:cNvPr id="13" name="Rectangle 12"/>
          <p:cNvSpPr/>
          <p:nvPr/>
        </p:nvSpPr>
        <p:spPr>
          <a:xfrm>
            <a:off x="6217920" y="1920240"/>
            <a:ext cx="2743200" cy="50292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965960"/>
            <a:ext cx="2560320" cy="411480"/>
          </a:xfrm>
          <a:prstGeom prst="rect">
            <a:avLst/>
          </a:prstGeom>
          <a:noFill/>
        </p:spPr>
        <p:txBody>
          <a:bodyPr wrap="square">
            <a:spAutoFit/>
          </a:bodyPr>
          <a:lstStyle/>
          <a:p>
            <a:pPr algn="ctr"/>
            <a:r>
              <a:rPr sz="1400" b="1" i="0">
                <a:solidFill>
                  <a:srgbClr val="FFFFFF"/>
                </a:solidFill>
              </a:rPr>
              <a:t>📦 ORDER</a:t>
            </a:r>
          </a:p>
        </p:txBody>
      </p:sp>
      <p:sp>
        <p:nvSpPr>
          <p:cNvPr id="15" name="TextBox 14"/>
          <p:cNvSpPr txBox="1"/>
          <p:nvPr/>
        </p:nvSpPr>
        <p:spPr>
          <a:xfrm>
            <a:off x="6309360" y="2487168"/>
            <a:ext cx="2560320" cy="4114800"/>
          </a:xfrm>
          <a:prstGeom prst="rect">
            <a:avLst/>
          </a:prstGeom>
          <a:noFill/>
        </p:spPr>
        <p:txBody>
          <a:bodyPr wrap="square">
            <a:spAutoFit/>
          </a:bodyPr>
          <a:lstStyle/>
          <a:p>
            <a:pPr>
              <a:spcBef>
                <a:spcPts val="400"/>
              </a:spcBef>
            </a:pPr>
            <a:r>
              <a:rPr sz="950" b="1">
                <a:solidFill>
                  <a:srgbClr val="B45A09"/>
                </a:solidFill>
              </a:rPr>
              <a:t>● </a:t>
            </a:r>
            <a:r>
              <a:rPr sz="1050">
                <a:solidFill>
                  <a:srgbClr val="1F2937"/>
                </a:solidFill>
              </a:rPr>
              <a:t>id — unique identifier</a:t>
            </a:r>
          </a:p>
          <a:p>
            <a:pPr>
              <a:spcBef>
                <a:spcPts val="400"/>
              </a:spcBef>
            </a:pPr>
            <a:r>
              <a:rPr sz="950" b="1">
                <a:solidFill>
                  <a:srgbClr val="B45A09"/>
                </a:solidFill>
              </a:rPr>
              <a:t>● </a:t>
            </a:r>
            <a:r>
              <a:rPr sz="1050">
                <a:solidFill>
                  <a:srgbClr val="1F2937"/>
                </a:solidFill>
              </a:rPr>
              <a:t>buyerId → links to User</a:t>
            </a:r>
          </a:p>
          <a:p>
            <a:pPr>
              <a:spcBef>
                <a:spcPts val="400"/>
              </a:spcBef>
            </a:pPr>
            <a:r>
              <a:rPr sz="950" b="1">
                <a:solidFill>
                  <a:srgbClr val="B45A09"/>
                </a:solidFill>
              </a:rPr>
              <a:t>● </a:t>
            </a:r>
            <a:r>
              <a:rPr sz="1050">
                <a:solidFill>
                  <a:srgbClr val="1F2937"/>
                </a:solidFill>
              </a:rPr>
              <a:t>produceId → links to Produce</a:t>
            </a:r>
          </a:p>
          <a:p>
            <a:pPr>
              <a:spcBef>
                <a:spcPts val="400"/>
              </a:spcBef>
            </a:pPr>
            <a:r>
              <a:rPr sz="950" b="1">
                <a:solidFill>
                  <a:srgbClr val="B45A09"/>
                </a:solidFill>
              </a:rPr>
              <a:t>● </a:t>
            </a:r>
            <a:r>
              <a:rPr sz="1050">
                <a:solidFill>
                  <a:srgbClr val="1F2937"/>
                </a:solidFill>
              </a:rPr>
              <a:t>quantity, unitPrice, totalPrice</a:t>
            </a:r>
          </a:p>
          <a:p>
            <a:pPr>
              <a:spcBef>
                <a:spcPts val="400"/>
              </a:spcBef>
            </a:pPr>
            <a:r>
              <a:rPr sz="950" b="1">
                <a:solidFill>
                  <a:srgbClr val="B45A09"/>
                </a:solidFill>
              </a:rPr>
              <a:t>● </a:t>
            </a:r>
            <a:r>
              <a:rPr sz="1050">
                <a:solidFill>
                  <a:srgbClr val="1F2937"/>
                </a:solidFill>
              </a:rPr>
              <a:t>status — PENDING/CONFIRMED/
  PICKED_UP/DELIVERED</a:t>
            </a:r>
          </a:p>
          <a:p>
            <a:pPr>
              <a:spcBef>
                <a:spcPts val="400"/>
              </a:spcBef>
            </a:pPr>
            <a:r>
              <a:rPr sz="950" b="1">
                <a:solidFill>
                  <a:srgbClr val="B45A09"/>
                </a:solidFill>
              </a:rPr>
              <a:t>● </a:t>
            </a:r>
            <a:r>
              <a:rPr sz="1050">
                <a:solidFill>
                  <a:srgbClr val="1F2937"/>
                </a:solidFill>
              </a:rPr>
              <a:t>paymentStatus, deliveryAddress</a:t>
            </a:r>
          </a:p>
        </p:txBody>
      </p:sp>
      <p:sp>
        <p:nvSpPr>
          <p:cNvPr id="16" name="Rectangle 15"/>
          <p:cNvSpPr/>
          <p:nvPr/>
        </p:nvSpPr>
        <p:spPr>
          <a:xfrm>
            <a:off x="9144000" y="1920240"/>
            <a:ext cx="2743200"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965960"/>
            <a:ext cx="2560320" cy="411480"/>
          </a:xfrm>
          <a:prstGeom prst="rect">
            <a:avLst/>
          </a:prstGeom>
          <a:noFill/>
        </p:spPr>
        <p:txBody>
          <a:bodyPr wrap="square">
            <a:spAutoFit/>
          </a:bodyPr>
          <a:lstStyle/>
          <a:p>
            <a:pPr algn="ctr"/>
            <a:r>
              <a:rPr sz="1400" b="1" i="0">
                <a:solidFill>
                  <a:srgbClr val="FFFFFF"/>
                </a:solidFill>
              </a:rPr>
              <a:t>🏭 HUB</a:t>
            </a:r>
          </a:p>
        </p:txBody>
      </p:sp>
      <p:sp>
        <p:nvSpPr>
          <p:cNvPr id="18" name="TextBox 17"/>
          <p:cNvSpPr txBox="1"/>
          <p:nvPr/>
        </p:nvSpPr>
        <p:spPr>
          <a:xfrm>
            <a:off x="9235440" y="2487168"/>
            <a:ext cx="2560320" cy="4114800"/>
          </a:xfrm>
          <a:prstGeom prst="rect">
            <a:avLst/>
          </a:prstGeom>
          <a:noFill/>
        </p:spPr>
        <p:txBody>
          <a:bodyPr wrap="square">
            <a:spAutoFit/>
          </a:bodyPr>
          <a:lstStyle/>
          <a:p>
            <a:pPr>
              <a:spcBef>
                <a:spcPts val="400"/>
              </a:spcBef>
            </a:pPr>
            <a:r>
              <a:rPr sz="950" b="1">
                <a:solidFill>
                  <a:srgbClr val="7C3AED"/>
                </a:solidFill>
              </a:rPr>
              <a:t>● </a:t>
            </a:r>
            <a:r>
              <a:rPr sz="1050">
                <a:solidFill>
                  <a:srgbClr val="1F2937"/>
                </a:solidFill>
              </a:rPr>
              <a:t>id — unique identifier</a:t>
            </a:r>
          </a:p>
          <a:p>
            <a:pPr>
              <a:spcBef>
                <a:spcPts val="400"/>
              </a:spcBef>
            </a:pPr>
            <a:r>
              <a:rPr sz="950" b="1">
                <a:solidFill>
                  <a:srgbClr val="7C3AED"/>
                </a:solidFill>
              </a:rPr>
              <a:t>● </a:t>
            </a:r>
            <a:r>
              <a:rPr sz="1050">
                <a:solidFill>
                  <a:srgbClr val="1F2937"/>
                </a:solidFill>
              </a:rPr>
              <a:t>name — hub display name</a:t>
            </a:r>
          </a:p>
          <a:p>
            <a:pPr>
              <a:spcBef>
                <a:spcPts val="400"/>
              </a:spcBef>
            </a:pPr>
            <a:r>
              <a:rPr sz="950" b="1">
                <a:solidFill>
                  <a:srgbClr val="7C3AED"/>
                </a:solidFill>
              </a:rPr>
              <a:t>● </a:t>
            </a:r>
            <a:r>
              <a:rPr sz="1050">
                <a:solidFill>
                  <a:srgbClr val="1F2937"/>
                </a:solidFill>
              </a:rPr>
              <a:t>location — address string</a:t>
            </a:r>
          </a:p>
          <a:p>
            <a:pPr>
              <a:spcBef>
                <a:spcPts val="400"/>
              </a:spcBef>
            </a:pPr>
            <a:r>
              <a:rPr sz="950" b="1">
                <a:solidFill>
                  <a:srgbClr val="7C3AED"/>
                </a:solidFill>
              </a:rPr>
              <a:t>● </a:t>
            </a:r>
            <a:r>
              <a:rPr sz="1050">
                <a:solidFill>
                  <a:srgbClr val="1F2937"/>
                </a:solidFill>
              </a:rPr>
              <a:t>lat, lng — GPS coordinates</a:t>
            </a:r>
          </a:p>
          <a:p>
            <a:pPr>
              <a:spcBef>
                <a:spcPts val="400"/>
              </a:spcBef>
            </a:pPr>
            <a:r>
              <a:rPr sz="950" b="1">
                <a:solidFill>
                  <a:srgbClr val="7C3AED"/>
                </a:solidFill>
              </a:rPr>
              <a:t>● </a:t>
            </a:r>
            <a:r>
              <a:rPr sz="1050">
                <a:solidFill>
                  <a:srgbClr val="1F2937"/>
                </a:solidFill>
              </a:rPr>
              <a:t>contactNumber</a:t>
            </a:r>
          </a:p>
          <a:p>
            <a:pPr>
              <a:spcBef>
                <a:spcPts val="400"/>
              </a:spcBef>
            </a:pPr>
            <a:r>
              <a:rPr sz="950" b="1">
                <a:solidFill>
                  <a:srgbClr val="7C3AED"/>
                </a:solidFill>
              </a:rPr>
              <a:t>● </a:t>
            </a:r>
            <a:r>
              <a:rPr sz="1050">
                <a:solidFill>
                  <a:srgbClr val="1F2937"/>
                </a:solidFill>
              </a:rPr>
              <a:t>Linked to Produce &amp; Orders</a:t>
            </a:r>
          </a:p>
        </p:txBody>
      </p:sp>
      <p:sp>
        <p:nvSpPr>
          <p:cNvPr id="19" name="Rectangle 18"/>
          <p:cNvSpPr/>
          <p:nvPr/>
        </p:nvSpPr>
        <p:spPr>
          <a:xfrm>
            <a:off x="365760" y="6309360"/>
            <a:ext cx="11430000" cy="457200"/>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36792"/>
            <a:ext cx="11155680" cy="384048"/>
          </a:xfrm>
          <a:prstGeom prst="rect">
            <a:avLst/>
          </a:prstGeom>
          <a:noFill/>
        </p:spPr>
        <p:txBody>
          <a:bodyPr wrap="square">
            <a:spAutoFit/>
          </a:bodyPr>
          <a:lstStyle/>
          <a:p>
            <a:pPr algn="l"/>
            <a:r>
              <a:rPr sz="1100" b="1" i="0">
                <a:solidFill>
                  <a:srgbClr val="064E3B"/>
                </a:solidFill>
              </a:rPr>
              <a:t>Relationships:  User (1) → (many) Produce   |   User (1) → (many) Orders   |   Produce (1) → (many) Orders   |   Hub (1) → (many) Produce &amp; Orders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822960"/>
          </a:xfrm>
          <a:prstGeom prst="rect">
            <a:avLst/>
          </a:prstGeom>
          <a:noFill/>
        </p:spPr>
        <p:txBody>
          <a:bodyPr wrap="square">
            <a:spAutoFit/>
          </a:bodyPr>
          <a:lstStyle/>
          <a:p>
            <a:pPr algn="l"/>
            <a:r>
              <a:rPr sz="3000" b="1" i="0">
                <a:solidFill>
                  <a:srgbClr val="FFFFFF"/>
                </a:solidFill>
              </a:rPr>
              <a:t>Security Architecture &amp; User Roles</a:t>
            </a: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548640" y="1097280"/>
            <a:ext cx="10972800" cy="685800"/>
          </a:xfrm>
          <a:prstGeom prst="rect">
            <a:avLst/>
          </a:prstGeom>
          <a:noFill/>
        </p:spPr>
        <p:txBody>
          <a:bodyPr wrap="square">
            <a:spAutoFit/>
          </a:bodyPr>
          <a:lstStyle/>
          <a:p>
            <a:pPr algn="l"/>
            <a:r>
              <a:rPr sz="1400" b="0" i="0">
                <a:solidFill>
                  <a:srgbClr val="1F2937"/>
                </a:solidFill>
              </a:rPr>
              <a:t>Security is a core concern in KisanConnect. All sensitive actions are protected by JWT-based authentication and role-based access control. This ensures farmers cannot access admin data, buyers cannot modify crop listings, and all passwords are irreversible.</a:t>
            </a:r>
          </a:p>
        </p:txBody>
      </p:sp>
      <p:sp>
        <p:nvSpPr>
          <p:cNvPr id="7" name="Rectangle 6"/>
          <p:cNvSpPr/>
          <p:nvPr/>
        </p:nvSpPr>
        <p:spPr>
          <a:xfrm>
            <a:off x="594360" y="1874519"/>
            <a:ext cx="10972800" cy="36576"/>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011680"/>
            <a:ext cx="3566160" cy="548640"/>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057400"/>
            <a:ext cx="3383280" cy="411480"/>
          </a:xfrm>
          <a:prstGeom prst="rect">
            <a:avLst/>
          </a:prstGeom>
          <a:noFill/>
        </p:spPr>
        <p:txBody>
          <a:bodyPr wrap="square">
            <a:spAutoFit/>
          </a:bodyPr>
          <a:lstStyle/>
          <a:p>
            <a:pPr algn="ctr"/>
            <a:r>
              <a:rPr sz="1600" b="1" i="0">
                <a:solidFill>
                  <a:srgbClr val="FFFFFF"/>
                </a:solidFill>
              </a:rPr>
              <a:t>🌾 FARMER</a:t>
            </a:r>
          </a:p>
        </p:txBody>
      </p:sp>
      <p:sp>
        <p:nvSpPr>
          <p:cNvPr id="10" name="TextBox 9"/>
          <p:cNvSpPr txBox="1"/>
          <p:nvPr/>
        </p:nvSpPr>
        <p:spPr>
          <a:xfrm>
            <a:off x="548640" y="2651760"/>
            <a:ext cx="3383280" cy="2743200"/>
          </a:xfrm>
          <a:prstGeom prst="rect">
            <a:avLst/>
          </a:prstGeom>
          <a:noFill/>
        </p:spPr>
        <p:txBody>
          <a:bodyPr wrap="square">
            <a:spAutoFit/>
          </a:bodyPr>
          <a:lstStyle/>
          <a:p>
            <a:pPr>
              <a:spcBef>
                <a:spcPts val="400"/>
              </a:spcBef>
            </a:pPr>
            <a:r>
              <a:rPr sz="1050" b="1">
                <a:solidFill>
                  <a:srgbClr val="067A45"/>
                </a:solidFill>
              </a:rPr>
              <a:t>● </a:t>
            </a:r>
            <a:r>
              <a:rPr sz="1150">
                <a:solidFill>
                  <a:srgbClr val="1F2937"/>
                </a:solidFill>
              </a:rPr>
              <a:t>Can add / edit / delete own crops</a:t>
            </a:r>
          </a:p>
          <a:p>
            <a:pPr>
              <a:spcBef>
                <a:spcPts val="400"/>
              </a:spcBef>
            </a:pPr>
            <a:r>
              <a:rPr sz="1050" b="1">
                <a:solidFill>
                  <a:srgbClr val="067A45"/>
                </a:solidFill>
              </a:rPr>
              <a:t>● </a:t>
            </a:r>
            <a:r>
              <a:rPr sz="1150">
                <a:solidFill>
                  <a:srgbClr val="1F2937"/>
                </a:solidFill>
              </a:rPr>
              <a:t>Cannot edit other farmers' listings</a:t>
            </a:r>
          </a:p>
          <a:p>
            <a:pPr>
              <a:spcBef>
                <a:spcPts val="400"/>
              </a:spcBef>
            </a:pPr>
            <a:r>
              <a:rPr sz="1050" b="1">
                <a:solidFill>
                  <a:srgbClr val="067A45"/>
                </a:solidFill>
              </a:rPr>
              <a:t>● </a:t>
            </a:r>
            <a:r>
              <a:rPr sz="1150">
                <a:solidFill>
                  <a:srgbClr val="1F2937"/>
                </a:solidFill>
              </a:rPr>
              <a:t>View incoming orders for their produce</a:t>
            </a:r>
          </a:p>
          <a:p>
            <a:pPr>
              <a:spcBef>
                <a:spcPts val="400"/>
              </a:spcBef>
            </a:pPr>
            <a:r>
              <a:rPr sz="1050" b="1">
                <a:solidFill>
                  <a:srgbClr val="067A45"/>
                </a:solidFill>
              </a:rPr>
              <a:t>● </a:t>
            </a:r>
            <a:r>
              <a:rPr sz="1150">
                <a:solidFill>
                  <a:srgbClr val="1F2937"/>
                </a:solidFill>
              </a:rPr>
              <a:t>Access Farmer Dashboard only</a:t>
            </a:r>
          </a:p>
          <a:p>
            <a:pPr>
              <a:spcBef>
                <a:spcPts val="400"/>
              </a:spcBef>
            </a:pPr>
            <a:r>
              <a:rPr sz="1050" b="1">
                <a:solidFill>
                  <a:srgbClr val="067A45"/>
                </a:solidFill>
              </a:rPr>
              <a:t>● </a:t>
            </a:r>
            <a:r>
              <a:rPr sz="1150">
                <a:solidFill>
                  <a:srgbClr val="1F2937"/>
                </a:solidFill>
              </a:rPr>
              <a:t>Cannot access Buyer or Admin pages</a:t>
            </a:r>
          </a:p>
        </p:txBody>
      </p:sp>
      <p:sp>
        <p:nvSpPr>
          <p:cNvPr id="11" name="Rectangle 10"/>
          <p:cNvSpPr/>
          <p:nvPr/>
        </p:nvSpPr>
        <p:spPr>
          <a:xfrm>
            <a:off x="4297680" y="2011680"/>
            <a:ext cx="3566160" cy="548640"/>
          </a:xfrm>
          <a:prstGeom prst="rect">
            <a:avLst/>
          </a:prstGeom>
          <a:solidFill>
            <a:srgbClr val="146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057400"/>
            <a:ext cx="3383280" cy="411480"/>
          </a:xfrm>
          <a:prstGeom prst="rect">
            <a:avLst/>
          </a:prstGeom>
          <a:noFill/>
        </p:spPr>
        <p:txBody>
          <a:bodyPr wrap="square">
            <a:spAutoFit/>
          </a:bodyPr>
          <a:lstStyle/>
          <a:p>
            <a:pPr algn="ctr"/>
            <a:r>
              <a:rPr sz="1600" b="1" i="0">
                <a:solidFill>
                  <a:srgbClr val="FFFFFF"/>
                </a:solidFill>
              </a:rPr>
              <a:t>🛒 BUYER</a:t>
            </a:r>
          </a:p>
        </p:txBody>
      </p:sp>
      <p:sp>
        <p:nvSpPr>
          <p:cNvPr id="13" name="TextBox 12"/>
          <p:cNvSpPr txBox="1"/>
          <p:nvPr/>
        </p:nvSpPr>
        <p:spPr>
          <a:xfrm>
            <a:off x="4389120" y="2651760"/>
            <a:ext cx="3383280" cy="2743200"/>
          </a:xfrm>
          <a:prstGeom prst="rect">
            <a:avLst/>
          </a:prstGeom>
          <a:noFill/>
        </p:spPr>
        <p:txBody>
          <a:bodyPr wrap="square">
            <a:spAutoFit/>
          </a:bodyPr>
          <a:lstStyle/>
          <a:p>
            <a:pPr>
              <a:spcBef>
                <a:spcPts val="400"/>
              </a:spcBef>
            </a:pPr>
            <a:r>
              <a:rPr sz="1050" b="1">
                <a:solidFill>
                  <a:srgbClr val="1462A8"/>
                </a:solidFill>
              </a:rPr>
              <a:t>● </a:t>
            </a:r>
            <a:r>
              <a:rPr sz="1150">
                <a:solidFill>
                  <a:srgbClr val="1F2937"/>
                </a:solidFill>
              </a:rPr>
              <a:t>Can browse all available produce</a:t>
            </a:r>
          </a:p>
          <a:p>
            <a:pPr>
              <a:spcBef>
                <a:spcPts val="400"/>
              </a:spcBef>
            </a:pPr>
            <a:r>
              <a:rPr sz="1050" b="1">
                <a:solidFill>
                  <a:srgbClr val="1462A8"/>
                </a:solidFill>
              </a:rPr>
              <a:t>● </a:t>
            </a:r>
            <a:r>
              <a:rPr sz="1150">
                <a:solidFill>
                  <a:srgbClr val="1F2937"/>
                </a:solidFill>
              </a:rPr>
              <a:t>Add items to cart and place orders</a:t>
            </a:r>
          </a:p>
          <a:p>
            <a:pPr>
              <a:spcBef>
                <a:spcPts val="400"/>
              </a:spcBef>
            </a:pPr>
            <a:r>
              <a:rPr sz="1050" b="1">
                <a:solidFill>
                  <a:srgbClr val="1462A8"/>
                </a:solidFill>
              </a:rPr>
              <a:t>● </a:t>
            </a:r>
            <a:r>
              <a:rPr sz="1150">
                <a:solidFill>
                  <a:srgbClr val="1F2937"/>
                </a:solidFill>
              </a:rPr>
              <a:t>View their own order history</a:t>
            </a:r>
          </a:p>
          <a:p>
            <a:pPr>
              <a:spcBef>
                <a:spcPts val="400"/>
              </a:spcBef>
            </a:pPr>
            <a:r>
              <a:rPr sz="1050" b="1">
                <a:solidFill>
                  <a:srgbClr val="1462A8"/>
                </a:solidFill>
              </a:rPr>
              <a:t>● </a:t>
            </a:r>
            <a:r>
              <a:rPr sz="1150">
                <a:solidFill>
                  <a:srgbClr val="1F2937"/>
                </a:solidFill>
              </a:rPr>
              <a:t>Cannot create or edit listings</a:t>
            </a:r>
          </a:p>
          <a:p>
            <a:pPr>
              <a:spcBef>
                <a:spcPts val="400"/>
              </a:spcBef>
            </a:pPr>
            <a:r>
              <a:rPr sz="1050" b="1">
                <a:solidFill>
                  <a:srgbClr val="1462A8"/>
                </a:solidFill>
              </a:rPr>
              <a:t>● </a:t>
            </a:r>
            <a:r>
              <a:rPr sz="1150">
                <a:solidFill>
                  <a:srgbClr val="1F2937"/>
                </a:solidFill>
              </a:rPr>
              <a:t>Cannot access Admin panel</a:t>
            </a:r>
          </a:p>
        </p:txBody>
      </p:sp>
      <p:sp>
        <p:nvSpPr>
          <p:cNvPr id="14" name="Rectangle 13"/>
          <p:cNvSpPr/>
          <p:nvPr/>
        </p:nvSpPr>
        <p:spPr>
          <a:xfrm>
            <a:off x="8138160" y="2011680"/>
            <a:ext cx="3566160"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2057400"/>
            <a:ext cx="3383280" cy="411480"/>
          </a:xfrm>
          <a:prstGeom prst="rect">
            <a:avLst/>
          </a:prstGeom>
          <a:noFill/>
        </p:spPr>
        <p:txBody>
          <a:bodyPr wrap="square">
            <a:spAutoFit/>
          </a:bodyPr>
          <a:lstStyle/>
          <a:p>
            <a:pPr algn="ctr"/>
            <a:r>
              <a:rPr sz="1600" b="1" i="0">
                <a:solidFill>
                  <a:srgbClr val="FFFFFF"/>
                </a:solidFill>
              </a:rPr>
              <a:t>🔑 ADMIN</a:t>
            </a:r>
          </a:p>
        </p:txBody>
      </p:sp>
      <p:sp>
        <p:nvSpPr>
          <p:cNvPr id="16" name="TextBox 15"/>
          <p:cNvSpPr txBox="1"/>
          <p:nvPr/>
        </p:nvSpPr>
        <p:spPr>
          <a:xfrm>
            <a:off x="8229600" y="2651760"/>
            <a:ext cx="3383280" cy="2743200"/>
          </a:xfrm>
          <a:prstGeom prst="rect">
            <a:avLst/>
          </a:prstGeom>
          <a:noFill/>
        </p:spPr>
        <p:txBody>
          <a:bodyPr wrap="square">
            <a:spAutoFit/>
          </a:bodyPr>
          <a:lstStyle/>
          <a:p>
            <a:pPr>
              <a:spcBef>
                <a:spcPts val="400"/>
              </a:spcBef>
            </a:pPr>
            <a:r>
              <a:rPr sz="1050" b="1">
                <a:solidFill>
                  <a:srgbClr val="7C3AED"/>
                </a:solidFill>
              </a:rPr>
              <a:t>● </a:t>
            </a:r>
            <a:r>
              <a:rPr sz="1150">
                <a:solidFill>
                  <a:srgbClr val="1F2937"/>
                </a:solidFill>
              </a:rPr>
              <a:t>Full access to all data</a:t>
            </a:r>
          </a:p>
          <a:p>
            <a:pPr>
              <a:spcBef>
                <a:spcPts val="400"/>
              </a:spcBef>
            </a:pPr>
            <a:r>
              <a:rPr sz="1050" b="1">
                <a:solidFill>
                  <a:srgbClr val="7C3AED"/>
                </a:solidFill>
              </a:rPr>
              <a:t>● </a:t>
            </a:r>
            <a:r>
              <a:rPr sz="1150">
                <a:solidFill>
                  <a:srgbClr val="1F2937"/>
                </a:solidFill>
              </a:rPr>
              <a:t>Manage all users (farmers + buyers)</a:t>
            </a:r>
          </a:p>
          <a:p>
            <a:pPr>
              <a:spcBef>
                <a:spcPts val="400"/>
              </a:spcBef>
            </a:pPr>
            <a:r>
              <a:rPr sz="1050" b="1">
                <a:solidFill>
                  <a:srgbClr val="7C3AED"/>
                </a:solidFill>
              </a:rPr>
              <a:t>● </a:t>
            </a:r>
            <a:r>
              <a:rPr sz="1150">
                <a:solidFill>
                  <a:srgbClr val="1F2937"/>
                </a:solidFill>
              </a:rPr>
              <a:t>Moderate crop listings</a:t>
            </a:r>
          </a:p>
          <a:p>
            <a:pPr>
              <a:spcBef>
                <a:spcPts val="400"/>
              </a:spcBef>
            </a:pPr>
            <a:r>
              <a:rPr sz="1050" b="1">
                <a:solidFill>
                  <a:srgbClr val="7C3AED"/>
                </a:solidFill>
              </a:rPr>
              <a:t>● </a:t>
            </a:r>
            <a:r>
              <a:rPr sz="1150">
                <a:solidFill>
                  <a:srgbClr val="1F2937"/>
                </a:solidFill>
              </a:rPr>
              <a:t>View and update all orders</a:t>
            </a:r>
          </a:p>
          <a:p>
            <a:pPr>
              <a:spcBef>
                <a:spcPts val="400"/>
              </a:spcBef>
            </a:pPr>
            <a:r>
              <a:rPr sz="1050" b="1">
                <a:solidFill>
                  <a:srgbClr val="7C3AED"/>
                </a:solidFill>
              </a:rPr>
              <a:t>● </a:t>
            </a:r>
            <a:r>
              <a:rPr sz="1150">
                <a:solidFill>
                  <a:srgbClr val="1F2937"/>
                </a:solidFill>
              </a:rPr>
              <a:t>Manage hubs and system settings</a:t>
            </a:r>
          </a:p>
        </p:txBody>
      </p:sp>
      <p:sp>
        <p:nvSpPr>
          <p:cNvPr id="17" name="Rectangle 16"/>
          <p:cNvSpPr/>
          <p:nvPr/>
        </p:nvSpPr>
        <p:spPr>
          <a:xfrm>
            <a:off x="457200" y="5577840"/>
            <a:ext cx="11247120" cy="1143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623560"/>
            <a:ext cx="2743200" cy="365760"/>
          </a:xfrm>
          <a:prstGeom prst="rect">
            <a:avLst/>
          </a:prstGeom>
          <a:noFill/>
        </p:spPr>
        <p:txBody>
          <a:bodyPr wrap="square">
            <a:spAutoFit/>
          </a:bodyPr>
          <a:lstStyle/>
          <a:p>
            <a:pPr algn="l"/>
            <a:r>
              <a:rPr sz="1300" b="1" i="0">
                <a:solidFill>
                  <a:srgbClr val="1F2937"/>
                </a:solidFill>
              </a:rPr>
              <a:t>🔐  Security Flow:</a:t>
            </a:r>
          </a:p>
        </p:txBody>
      </p:sp>
      <p:sp>
        <p:nvSpPr>
          <p:cNvPr id="19" name="TextBox 18"/>
          <p:cNvSpPr txBox="1"/>
          <p:nvPr/>
        </p:nvSpPr>
        <p:spPr>
          <a:xfrm>
            <a:off x="594360" y="5989320"/>
            <a:ext cx="10972800" cy="685800"/>
          </a:xfrm>
          <a:prstGeom prst="rect">
            <a:avLst/>
          </a:prstGeom>
          <a:noFill/>
        </p:spPr>
        <p:txBody>
          <a:bodyPr wrap="square">
            <a:spAutoFit/>
          </a:bodyPr>
          <a:lstStyle/>
          <a:p>
            <a:pPr>
              <a:spcBef>
                <a:spcPts val="400"/>
              </a:spcBef>
            </a:pPr>
            <a:r>
              <a:rPr sz="1000" b="1">
                <a:solidFill>
                  <a:srgbClr val="991B1B"/>
                </a:solidFill>
              </a:rPr>
              <a:t>● </a:t>
            </a:r>
            <a:r>
              <a:rPr sz="1100">
                <a:solidFill>
                  <a:srgbClr val="1F2937"/>
                </a:solidFill>
              </a:rPr>
              <a:t>1. User registers → password hashed with BCrypt</a:t>
            </a:r>
          </a:p>
          <a:p>
            <a:pPr>
              <a:spcBef>
                <a:spcPts val="400"/>
              </a:spcBef>
            </a:pPr>
            <a:r>
              <a:rPr sz="1000" b="1">
                <a:solidFill>
                  <a:srgbClr val="991B1B"/>
                </a:solidFill>
              </a:rPr>
              <a:t>● </a:t>
            </a:r>
            <a:r>
              <a:rPr sz="1100">
                <a:solidFill>
                  <a:srgbClr val="1F2937"/>
                </a:solidFill>
              </a:rPr>
              <a:t>2. User logs in → server verifies hash → issues JWT token</a:t>
            </a:r>
          </a:p>
          <a:p>
            <a:pPr>
              <a:spcBef>
                <a:spcPts val="400"/>
              </a:spcBef>
            </a:pPr>
            <a:r>
              <a:rPr sz="1000" b="1">
                <a:solidFill>
                  <a:srgbClr val="991B1B"/>
                </a:solidFill>
              </a:rPr>
              <a:t>● </a:t>
            </a:r>
            <a:r>
              <a:rPr sz="1100">
                <a:solidFill>
                  <a:srgbClr val="1F2937"/>
                </a:solidFill>
              </a:rPr>
              <a:t>3. Token stored in browser → sent in every API request header</a:t>
            </a:r>
          </a:p>
          <a:p>
            <a:pPr>
              <a:spcBef>
                <a:spcPts val="400"/>
              </a:spcBef>
            </a:pPr>
            <a:r>
              <a:rPr sz="1000" b="1">
                <a:solidFill>
                  <a:srgbClr val="991B1B"/>
                </a:solidFill>
              </a:rPr>
              <a:t>● </a:t>
            </a:r>
            <a:r>
              <a:rPr sz="1100">
                <a:solidFill>
                  <a:srgbClr val="1F2937"/>
                </a:solidFill>
              </a:rPr>
              <a:t>4. Server verifies token signature → checks role → allows or denies 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822960"/>
          </a:xfrm>
          <a:prstGeom prst="rect">
            <a:avLst/>
          </a:prstGeom>
          <a:noFill/>
        </p:spPr>
        <p:txBody>
          <a:bodyPr wrap="square">
            <a:spAutoFit/>
          </a:bodyPr>
          <a:lstStyle/>
          <a:p>
            <a:pPr algn="l"/>
            <a:r>
              <a:rPr sz="3000" b="1" i="0">
                <a:solidFill>
                  <a:srgbClr val="FFFFFF"/>
                </a:solidFill>
              </a:rPr>
              <a:t>🌐 Multi-Language Support</a:t>
            </a: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548640" y="1097280"/>
            <a:ext cx="10972800" cy="685800"/>
          </a:xfrm>
          <a:prstGeom prst="rect">
            <a:avLst/>
          </a:prstGeom>
          <a:noFill/>
        </p:spPr>
        <p:txBody>
          <a:bodyPr wrap="square">
            <a:spAutoFit/>
          </a:bodyPr>
          <a:lstStyle/>
          <a:p>
            <a:pPr algn="l"/>
            <a:r>
              <a:rPr sz="1400" b="0" i="0">
                <a:solidFill>
                  <a:srgbClr val="1F2937"/>
                </a:solidFill>
              </a:rPr>
              <a:t>India speaks 121 languages and 270 mother tongues. A marketplace built for Indian farmers must speak their language. KisanConnect supports 8 major Indian languages, built from scratch using a custom React Context — no third-party library needed.</a:t>
            </a:r>
          </a:p>
        </p:txBody>
      </p:sp>
      <p:sp>
        <p:nvSpPr>
          <p:cNvPr id="7" name="Rectangle 6"/>
          <p:cNvSpPr/>
          <p:nvPr/>
        </p:nvSpPr>
        <p:spPr>
          <a:xfrm>
            <a:off x="365760" y="1920240"/>
            <a:ext cx="1316736" cy="1463040"/>
          </a:xfrm>
          <a:prstGeom prst="rect">
            <a:avLst/>
          </a:prstGeom>
          <a:solidFill>
            <a:srgbClr val="FFFFFF"/>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65960"/>
            <a:ext cx="1133856" cy="457200"/>
          </a:xfrm>
          <a:prstGeom prst="rect">
            <a:avLst/>
          </a:prstGeom>
          <a:noFill/>
        </p:spPr>
        <p:txBody>
          <a:bodyPr wrap="square">
            <a:spAutoFit/>
          </a:bodyPr>
          <a:lstStyle/>
          <a:p>
            <a:pPr algn="ctr"/>
            <a:r>
              <a:rPr sz="2200" b="0" i="0">
                <a:solidFill>
                  <a:srgbClr val="1F2937"/>
                </a:solidFill>
              </a:rPr>
              <a:t>🇬🇧</a:t>
            </a:r>
          </a:p>
        </p:txBody>
      </p:sp>
      <p:sp>
        <p:nvSpPr>
          <p:cNvPr id="9" name="TextBox 8"/>
          <p:cNvSpPr txBox="1"/>
          <p:nvPr/>
        </p:nvSpPr>
        <p:spPr>
          <a:xfrm>
            <a:off x="411480" y="2423160"/>
            <a:ext cx="1225296" cy="822960"/>
          </a:xfrm>
          <a:prstGeom prst="rect">
            <a:avLst/>
          </a:prstGeom>
          <a:noFill/>
        </p:spPr>
        <p:txBody>
          <a:bodyPr wrap="square">
            <a:spAutoFit/>
          </a:bodyPr>
          <a:lstStyle/>
          <a:p>
            <a:pPr algn="ctr"/>
            <a:r>
              <a:rPr sz="1000" b="1" i="0">
                <a:solidFill>
                  <a:srgbClr val="1F2937"/>
                </a:solidFill>
              </a:rPr>
              <a:t>English</a:t>
            </a:r>
          </a:p>
        </p:txBody>
      </p:sp>
      <p:sp>
        <p:nvSpPr>
          <p:cNvPr id="10" name="Rectangle 9"/>
          <p:cNvSpPr/>
          <p:nvPr/>
        </p:nvSpPr>
        <p:spPr>
          <a:xfrm>
            <a:off x="1792224" y="1920240"/>
            <a:ext cx="1316736" cy="1463040"/>
          </a:xfrm>
          <a:prstGeom prst="rect">
            <a:avLst/>
          </a:prstGeom>
          <a:solidFill>
            <a:srgbClr val="FFF0CC"/>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83664" y="1965960"/>
            <a:ext cx="1133856" cy="457200"/>
          </a:xfrm>
          <a:prstGeom prst="rect">
            <a:avLst/>
          </a:prstGeom>
          <a:noFill/>
        </p:spPr>
        <p:txBody>
          <a:bodyPr wrap="square">
            <a:spAutoFit/>
          </a:bodyPr>
          <a:lstStyle/>
          <a:p>
            <a:pPr algn="ctr"/>
            <a:r>
              <a:rPr sz="2200" b="0" i="0">
                <a:solidFill>
                  <a:srgbClr val="1F2937"/>
                </a:solidFill>
              </a:rPr>
              <a:t>🇮🇳</a:t>
            </a:r>
          </a:p>
        </p:txBody>
      </p:sp>
      <p:sp>
        <p:nvSpPr>
          <p:cNvPr id="12" name="TextBox 11"/>
          <p:cNvSpPr txBox="1"/>
          <p:nvPr/>
        </p:nvSpPr>
        <p:spPr>
          <a:xfrm>
            <a:off x="1837943" y="2423160"/>
            <a:ext cx="1225296" cy="822960"/>
          </a:xfrm>
          <a:prstGeom prst="rect">
            <a:avLst/>
          </a:prstGeom>
          <a:noFill/>
        </p:spPr>
        <p:txBody>
          <a:bodyPr wrap="square">
            <a:spAutoFit/>
          </a:bodyPr>
          <a:lstStyle/>
          <a:p>
            <a:pPr algn="ctr"/>
            <a:r>
              <a:rPr sz="1000" b="1" i="0">
                <a:solidFill>
                  <a:srgbClr val="1F2937"/>
                </a:solidFill>
              </a:rPr>
              <a:t>हिन्दी
Hindi</a:t>
            </a:r>
          </a:p>
        </p:txBody>
      </p:sp>
      <p:sp>
        <p:nvSpPr>
          <p:cNvPr id="13" name="Rectangle 12"/>
          <p:cNvSpPr/>
          <p:nvPr/>
        </p:nvSpPr>
        <p:spPr>
          <a:xfrm>
            <a:off x="3218688" y="1920240"/>
            <a:ext cx="1316736" cy="1463040"/>
          </a:xfrm>
          <a:prstGeom prst="rect">
            <a:avLst/>
          </a:prstGeom>
          <a:solidFill>
            <a:srgbClr val="D1FAE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10128" y="1965960"/>
            <a:ext cx="1133856" cy="457200"/>
          </a:xfrm>
          <a:prstGeom prst="rect">
            <a:avLst/>
          </a:prstGeom>
          <a:noFill/>
        </p:spPr>
        <p:txBody>
          <a:bodyPr wrap="square">
            <a:spAutoFit/>
          </a:bodyPr>
          <a:lstStyle/>
          <a:p>
            <a:pPr algn="ctr"/>
            <a:r>
              <a:rPr sz="2200" b="0" i="0">
                <a:solidFill>
                  <a:srgbClr val="1F2937"/>
                </a:solidFill>
              </a:rPr>
              <a:t>🇮🇳</a:t>
            </a:r>
          </a:p>
        </p:txBody>
      </p:sp>
      <p:sp>
        <p:nvSpPr>
          <p:cNvPr id="15" name="TextBox 14"/>
          <p:cNvSpPr txBox="1"/>
          <p:nvPr/>
        </p:nvSpPr>
        <p:spPr>
          <a:xfrm>
            <a:off x="3264408" y="2423160"/>
            <a:ext cx="1225296" cy="822960"/>
          </a:xfrm>
          <a:prstGeom prst="rect">
            <a:avLst/>
          </a:prstGeom>
          <a:noFill/>
        </p:spPr>
        <p:txBody>
          <a:bodyPr wrap="square">
            <a:spAutoFit/>
          </a:bodyPr>
          <a:lstStyle/>
          <a:p>
            <a:pPr algn="ctr"/>
            <a:r>
              <a:rPr sz="1000" b="1" i="0">
                <a:solidFill>
                  <a:srgbClr val="1F2937"/>
                </a:solidFill>
              </a:rPr>
              <a:t>मराठी
Marathi</a:t>
            </a:r>
          </a:p>
        </p:txBody>
      </p:sp>
      <p:sp>
        <p:nvSpPr>
          <p:cNvPr id="16" name="Rectangle 15"/>
          <p:cNvSpPr/>
          <p:nvPr/>
        </p:nvSpPr>
        <p:spPr>
          <a:xfrm>
            <a:off x="4645152" y="1920240"/>
            <a:ext cx="1316736" cy="1463040"/>
          </a:xfrm>
          <a:prstGeom prst="rect">
            <a:avLst/>
          </a:prstGeom>
          <a:solidFill>
            <a:srgbClr val="EED0FF"/>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36592" y="1965960"/>
            <a:ext cx="1133856" cy="457200"/>
          </a:xfrm>
          <a:prstGeom prst="rect">
            <a:avLst/>
          </a:prstGeom>
          <a:noFill/>
        </p:spPr>
        <p:txBody>
          <a:bodyPr wrap="square">
            <a:spAutoFit/>
          </a:bodyPr>
          <a:lstStyle/>
          <a:p>
            <a:pPr algn="ctr"/>
            <a:r>
              <a:rPr sz="2200" b="0" i="0">
                <a:solidFill>
                  <a:srgbClr val="1F2937"/>
                </a:solidFill>
              </a:rPr>
              <a:t>🇮🇳</a:t>
            </a:r>
          </a:p>
        </p:txBody>
      </p:sp>
      <p:sp>
        <p:nvSpPr>
          <p:cNvPr id="18" name="TextBox 17"/>
          <p:cNvSpPr txBox="1"/>
          <p:nvPr/>
        </p:nvSpPr>
        <p:spPr>
          <a:xfrm>
            <a:off x="4690872" y="2423160"/>
            <a:ext cx="1225296" cy="822960"/>
          </a:xfrm>
          <a:prstGeom prst="rect">
            <a:avLst/>
          </a:prstGeom>
          <a:noFill/>
        </p:spPr>
        <p:txBody>
          <a:bodyPr wrap="square">
            <a:spAutoFit/>
          </a:bodyPr>
          <a:lstStyle/>
          <a:p>
            <a:pPr algn="ctr"/>
            <a:r>
              <a:rPr sz="1000" b="1" i="0">
                <a:solidFill>
                  <a:srgbClr val="1F2937"/>
                </a:solidFill>
              </a:rPr>
              <a:t>ਪੰਜਾਬੀ
Punjabi</a:t>
            </a:r>
          </a:p>
        </p:txBody>
      </p:sp>
      <p:sp>
        <p:nvSpPr>
          <p:cNvPr id="19" name="Rectangle 18"/>
          <p:cNvSpPr/>
          <p:nvPr/>
        </p:nvSpPr>
        <p:spPr>
          <a:xfrm>
            <a:off x="6071616" y="1920240"/>
            <a:ext cx="1316736" cy="1463040"/>
          </a:xfrm>
          <a:prstGeom prst="rect">
            <a:avLst/>
          </a:prstGeom>
          <a:solidFill>
            <a:srgbClr val="FFEDD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63056" y="1965960"/>
            <a:ext cx="1133856" cy="457200"/>
          </a:xfrm>
          <a:prstGeom prst="rect">
            <a:avLst/>
          </a:prstGeom>
          <a:noFill/>
        </p:spPr>
        <p:txBody>
          <a:bodyPr wrap="square">
            <a:spAutoFit/>
          </a:bodyPr>
          <a:lstStyle/>
          <a:p>
            <a:pPr algn="ctr"/>
            <a:r>
              <a:rPr sz="2200" b="0" i="0">
                <a:solidFill>
                  <a:srgbClr val="1F2937"/>
                </a:solidFill>
              </a:rPr>
              <a:t>🇮🇳</a:t>
            </a:r>
          </a:p>
        </p:txBody>
      </p:sp>
      <p:sp>
        <p:nvSpPr>
          <p:cNvPr id="21" name="TextBox 20"/>
          <p:cNvSpPr txBox="1"/>
          <p:nvPr/>
        </p:nvSpPr>
        <p:spPr>
          <a:xfrm>
            <a:off x="6117336" y="2423160"/>
            <a:ext cx="1225296" cy="822960"/>
          </a:xfrm>
          <a:prstGeom prst="rect">
            <a:avLst/>
          </a:prstGeom>
          <a:noFill/>
        </p:spPr>
        <p:txBody>
          <a:bodyPr wrap="square">
            <a:spAutoFit/>
          </a:bodyPr>
          <a:lstStyle/>
          <a:p>
            <a:pPr algn="ctr"/>
            <a:r>
              <a:rPr sz="1000" b="1" i="0">
                <a:solidFill>
                  <a:srgbClr val="1F2937"/>
                </a:solidFill>
              </a:rPr>
              <a:t>తెలుగు
Telugu</a:t>
            </a:r>
          </a:p>
        </p:txBody>
      </p:sp>
      <p:sp>
        <p:nvSpPr>
          <p:cNvPr id="22" name="Rectangle 21"/>
          <p:cNvSpPr/>
          <p:nvPr/>
        </p:nvSpPr>
        <p:spPr>
          <a:xfrm>
            <a:off x="7498080" y="1920240"/>
            <a:ext cx="1316736" cy="1463040"/>
          </a:xfrm>
          <a:prstGeom prst="rect">
            <a:avLst/>
          </a:prstGeom>
          <a:solidFill>
            <a:srgbClr val="FEE2E2"/>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0" y="1965960"/>
            <a:ext cx="1133856" cy="457200"/>
          </a:xfrm>
          <a:prstGeom prst="rect">
            <a:avLst/>
          </a:prstGeom>
          <a:noFill/>
        </p:spPr>
        <p:txBody>
          <a:bodyPr wrap="square">
            <a:spAutoFit/>
          </a:bodyPr>
          <a:lstStyle/>
          <a:p>
            <a:pPr algn="ctr"/>
            <a:r>
              <a:rPr sz="2200" b="0" i="0">
                <a:solidFill>
                  <a:srgbClr val="1F2937"/>
                </a:solidFill>
              </a:rPr>
              <a:t>🇮🇳</a:t>
            </a:r>
          </a:p>
        </p:txBody>
      </p:sp>
      <p:sp>
        <p:nvSpPr>
          <p:cNvPr id="24" name="TextBox 23"/>
          <p:cNvSpPr txBox="1"/>
          <p:nvPr/>
        </p:nvSpPr>
        <p:spPr>
          <a:xfrm>
            <a:off x="7543800" y="2423160"/>
            <a:ext cx="1225296" cy="822960"/>
          </a:xfrm>
          <a:prstGeom prst="rect">
            <a:avLst/>
          </a:prstGeom>
          <a:noFill/>
        </p:spPr>
        <p:txBody>
          <a:bodyPr wrap="square">
            <a:spAutoFit/>
          </a:bodyPr>
          <a:lstStyle/>
          <a:p>
            <a:pPr algn="ctr"/>
            <a:r>
              <a:rPr sz="1000" b="1" i="0">
                <a:solidFill>
                  <a:srgbClr val="1F2937"/>
                </a:solidFill>
              </a:rPr>
              <a:t>தமிழ்
Tamil</a:t>
            </a:r>
          </a:p>
        </p:txBody>
      </p:sp>
      <p:sp>
        <p:nvSpPr>
          <p:cNvPr id="25" name="Rectangle 24"/>
          <p:cNvSpPr/>
          <p:nvPr/>
        </p:nvSpPr>
        <p:spPr>
          <a:xfrm>
            <a:off x="8924544" y="1920240"/>
            <a:ext cx="1316736" cy="1463040"/>
          </a:xfrm>
          <a:prstGeom prst="rect">
            <a:avLst/>
          </a:prstGeom>
          <a:solidFill>
            <a:srgbClr val="DBEAFE"/>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15984" y="1965960"/>
            <a:ext cx="1133856" cy="457200"/>
          </a:xfrm>
          <a:prstGeom prst="rect">
            <a:avLst/>
          </a:prstGeom>
          <a:noFill/>
        </p:spPr>
        <p:txBody>
          <a:bodyPr wrap="square">
            <a:spAutoFit/>
          </a:bodyPr>
          <a:lstStyle/>
          <a:p>
            <a:pPr algn="ctr"/>
            <a:r>
              <a:rPr sz="2200" b="0" i="0">
                <a:solidFill>
                  <a:srgbClr val="1F2937"/>
                </a:solidFill>
              </a:rPr>
              <a:t>🇮🇳</a:t>
            </a:r>
          </a:p>
        </p:txBody>
      </p:sp>
      <p:sp>
        <p:nvSpPr>
          <p:cNvPr id="27" name="TextBox 26"/>
          <p:cNvSpPr txBox="1"/>
          <p:nvPr/>
        </p:nvSpPr>
        <p:spPr>
          <a:xfrm>
            <a:off x="8970264" y="2423160"/>
            <a:ext cx="1225296" cy="822960"/>
          </a:xfrm>
          <a:prstGeom prst="rect">
            <a:avLst/>
          </a:prstGeom>
          <a:noFill/>
        </p:spPr>
        <p:txBody>
          <a:bodyPr wrap="square">
            <a:spAutoFit/>
          </a:bodyPr>
          <a:lstStyle/>
          <a:p>
            <a:pPr algn="ctr"/>
            <a:r>
              <a:rPr sz="1000" b="1" i="0">
                <a:solidFill>
                  <a:srgbClr val="1F2937"/>
                </a:solidFill>
              </a:rPr>
              <a:t>বাংলা
Bengali</a:t>
            </a:r>
          </a:p>
        </p:txBody>
      </p:sp>
      <p:sp>
        <p:nvSpPr>
          <p:cNvPr id="28" name="Rectangle 27"/>
          <p:cNvSpPr/>
          <p:nvPr/>
        </p:nvSpPr>
        <p:spPr>
          <a:xfrm>
            <a:off x="10351008" y="1920240"/>
            <a:ext cx="1316736" cy="1463040"/>
          </a:xfrm>
          <a:prstGeom prst="rect">
            <a:avLst/>
          </a:prstGeom>
          <a:solidFill>
            <a:srgbClr val="FEF3C7"/>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42448" y="1965960"/>
            <a:ext cx="1133856" cy="457200"/>
          </a:xfrm>
          <a:prstGeom prst="rect">
            <a:avLst/>
          </a:prstGeom>
          <a:noFill/>
        </p:spPr>
        <p:txBody>
          <a:bodyPr wrap="square">
            <a:spAutoFit/>
          </a:bodyPr>
          <a:lstStyle/>
          <a:p>
            <a:pPr algn="ctr"/>
            <a:r>
              <a:rPr sz="2200" b="0" i="0">
                <a:solidFill>
                  <a:srgbClr val="1F2937"/>
                </a:solidFill>
              </a:rPr>
              <a:t>🇮🇳</a:t>
            </a:r>
          </a:p>
        </p:txBody>
      </p:sp>
      <p:sp>
        <p:nvSpPr>
          <p:cNvPr id="30" name="TextBox 29"/>
          <p:cNvSpPr txBox="1"/>
          <p:nvPr/>
        </p:nvSpPr>
        <p:spPr>
          <a:xfrm>
            <a:off x="10396728" y="2423160"/>
            <a:ext cx="1225296" cy="822960"/>
          </a:xfrm>
          <a:prstGeom prst="rect">
            <a:avLst/>
          </a:prstGeom>
          <a:noFill/>
        </p:spPr>
        <p:txBody>
          <a:bodyPr wrap="square">
            <a:spAutoFit/>
          </a:bodyPr>
          <a:lstStyle/>
          <a:p>
            <a:pPr algn="ctr"/>
            <a:r>
              <a:rPr sz="1000" b="1" i="0">
                <a:solidFill>
                  <a:srgbClr val="1F2937"/>
                </a:solidFill>
              </a:rPr>
              <a:t>ಕನ್ನಡ
Kannada</a:t>
            </a:r>
          </a:p>
        </p:txBody>
      </p:sp>
      <p:sp>
        <p:nvSpPr>
          <p:cNvPr id="31" name="Rectangle 30"/>
          <p:cNvSpPr/>
          <p:nvPr/>
        </p:nvSpPr>
        <p:spPr>
          <a:xfrm>
            <a:off x="365760" y="3520440"/>
            <a:ext cx="11430000" cy="31546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566160"/>
            <a:ext cx="7315200" cy="365760"/>
          </a:xfrm>
          <a:prstGeom prst="rect">
            <a:avLst/>
          </a:prstGeom>
          <a:noFill/>
        </p:spPr>
        <p:txBody>
          <a:bodyPr wrap="square">
            <a:spAutoFit/>
          </a:bodyPr>
          <a:lstStyle/>
          <a:p>
            <a:pPr algn="l"/>
            <a:r>
              <a:rPr sz="1500" b="1" i="0">
                <a:solidFill>
                  <a:srgbClr val="064E3B"/>
                </a:solidFill>
              </a:rPr>
              <a:t>How the Language System Works</a:t>
            </a:r>
          </a:p>
        </p:txBody>
      </p:sp>
      <p:sp>
        <p:nvSpPr>
          <p:cNvPr id="33" name="TextBox 32"/>
          <p:cNvSpPr txBox="1"/>
          <p:nvPr/>
        </p:nvSpPr>
        <p:spPr>
          <a:xfrm>
            <a:off x="548640" y="3977639"/>
            <a:ext cx="11064240" cy="2606040"/>
          </a:xfrm>
          <a:prstGeom prst="rect">
            <a:avLst/>
          </a:prstGeom>
          <a:noFill/>
        </p:spPr>
        <p:txBody>
          <a:bodyPr wrap="square">
            <a:spAutoFit/>
          </a:bodyPr>
          <a:lstStyle/>
          <a:p>
            <a:pPr>
              <a:spcBef>
                <a:spcPts val="400"/>
              </a:spcBef>
            </a:pPr>
            <a:r>
              <a:rPr sz="1100" b="1">
                <a:solidFill>
                  <a:srgbClr val="F59E0B"/>
                </a:solidFill>
              </a:rPr>
              <a:t>● </a:t>
            </a:r>
            <a:r>
              <a:rPr sz="1200">
                <a:solidFill>
                  <a:srgbClr val="1F2937"/>
                </a:solidFill>
              </a:rPr>
              <a:t>LanguageContext.tsx stores a dictionary of 80+ text strings for each of the 8 languages</a:t>
            </a:r>
          </a:p>
          <a:p>
            <a:pPr>
              <a:spcBef>
                <a:spcPts val="400"/>
              </a:spcBef>
            </a:pPr>
            <a:r>
              <a:rPr sz="1100" b="1">
                <a:solidFill>
                  <a:srgbClr val="F59E0B"/>
                </a:solidFill>
              </a:rPr>
              <a:t>● </a:t>
            </a:r>
            <a:r>
              <a:rPr sz="1200">
                <a:solidFill>
                  <a:srgbClr val="1F2937"/>
                </a:solidFill>
              </a:rPr>
              <a:t>Every component calls t('key') instead of hardcoding English text e.g. t('nav.marketplace') returns 'बाज़ार' in Hindi</a:t>
            </a:r>
          </a:p>
          <a:p>
            <a:pPr>
              <a:spcBef>
                <a:spcPts val="400"/>
              </a:spcBef>
            </a:pPr>
            <a:r>
              <a:rPr sz="1100" b="1">
                <a:solidFill>
                  <a:srgbClr val="F59E0B"/>
                </a:solidFill>
              </a:rPr>
              <a:t>● </a:t>
            </a:r>
            <a:r>
              <a:rPr sz="1200">
                <a:solidFill>
                  <a:srgbClr val="1F2937"/>
                </a:solidFill>
              </a:rPr>
              <a:t>The 🌐 Globe dropdown in the top navbar lets users switch language instantly with one click</a:t>
            </a:r>
          </a:p>
          <a:p>
            <a:pPr>
              <a:spcBef>
                <a:spcPts val="400"/>
              </a:spcBef>
            </a:pPr>
            <a:r>
              <a:rPr sz="1100" b="1">
                <a:solidFill>
                  <a:srgbClr val="F59E0B"/>
                </a:solidFill>
              </a:rPr>
              <a:t>● </a:t>
            </a:r>
            <a:r>
              <a:rPr sz="1200">
                <a:solidFill>
                  <a:srgbClr val="1F2937"/>
                </a:solidFill>
              </a:rPr>
              <a:t>Selected language is saved to localStorage — so it persists even after closing and reopening the browser</a:t>
            </a:r>
          </a:p>
          <a:p>
            <a:pPr>
              <a:spcBef>
                <a:spcPts val="400"/>
              </a:spcBef>
            </a:pPr>
            <a:r>
              <a:rPr sz="1100" b="1">
                <a:solidFill>
                  <a:srgbClr val="F59E0B"/>
                </a:solidFill>
              </a:rPr>
              <a:t>● </a:t>
            </a:r>
            <a:r>
              <a:rPr sz="1200">
                <a:solidFill>
                  <a:srgbClr val="1F2937"/>
                </a:solidFill>
              </a:rPr>
              <a:t>No external library (no next-i18next, no react-intl) — built entirely with React Context API from scratch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822960"/>
          </a:xfrm>
          <a:prstGeom prst="rect">
            <a:avLst/>
          </a:prstGeom>
          <a:noFill/>
        </p:spPr>
        <p:txBody>
          <a:bodyPr wrap="square">
            <a:spAutoFit/>
          </a:bodyPr>
          <a:lstStyle/>
          <a:p>
            <a:pPr algn="l"/>
            <a:r>
              <a:rPr sz="3000" b="1" i="0">
                <a:solidFill>
                  <a:srgbClr val="FFFFFF"/>
                </a:solidFill>
              </a:rPr>
              <a:t>Application Pages &amp; User Flows</a:t>
            </a: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548640" y="1097280"/>
            <a:ext cx="10972800" cy="685800"/>
          </a:xfrm>
          <a:prstGeom prst="rect">
            <a:avLst/>
          </a:prstGeom>
          <a:noFill/>
        </p:spPr>
        <p:txBody>
          <a:bodyPr wrap="square">
            <a:spAutoFit/>
          </a:bodyPr>
          <a:lstStyle/>
          <a:p>
            <a:pPr algn="l"/>
            <a:r>
              <a:rPr sz="1400" b="0" i="0">
                <a:solidFill>
                  <a:srgbClr val="1F2937"/>
                </a:solidFill>
              </a:rPr>
              <a:t>KisanConnect has 9 distinct pages, each serving a specific purpose in the user journey. The app intelligently shows different navigation links depending on whether you are a Farmer, Buyer, or Admin — no page shows irrelevant options.</a:t>
            </a:r>
          </a:p>
        </p:txBody>
      </p:sp>
      <p:sp>
        <p:nvSpPr>
          <p:cNvPr id="7" name="Rectangle 6"/>
          <p:cNvSpPr/>
          <p:nvPr/>
        </p:nvSpPr>
        <p:spPr>
          <a:xfrm>
            <a:off x="365760" y="1920240"/>
            <a:ext cx="11430000" cy="475488"/>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75104"/>
            <a:ext cx="1920240" cy="365760"/>
          </a:xfrm>
          <a:prstGeom prst="rect">
            <a:avLst/>
          </a:prstGeom>
          <a:noFill/>
        </p:spPr>
        <p:txBody>
          <a:bodyPr wrap="square">
            <a:spAutoFit/>
          </a:bodyPr>
          <a:lstStyle/>
          <a:p>
            <a:pPr algn="l"/>
            <a:r>
              <a:rPr sz="1050" b="1" i="0">
                <a:solidFill>
                  <a:srgbClr val="064E3B"/>
                </a:solidFill>
              </a:rPr>
              <a:t>/</a:t>
            </a:r>
          </a:p>
        </p:txBody>
      </p:sp>
      <p:sp>
        <p:nvSpPr>
          <p:cNvPr id="9" name="TextBox 8"/>
          <p:cNvSpPr txBox="1"/>
          <p:nvPr/>
        </p:nvSpPr>
        <p:spPr>
          <a:xfrm>
            <a:off x="2423160" y="1975104"/>
            <a:ext cx="1828800" cy="365760"/>
          </a:xfrm>
          <a:prstGeom prst="rect">
            <a:avLst/>
          </a:prstGeom>
          <a:noFill/>
        </p:spPr>
        <p:txBody>
          <a:bodyPr wrap="square">
            <a:spAutoFit/>
          </a:bodyPr>
          <a:lstStyle/>
          <a:p>
            <a:pPr algn="l"/>
            <a:r>
              <a:rPr sz="1100" b="1" i="0">
                <a:solidFill>
                  <a:srgbClr val="1F2937"/>
                </a:solidFill>
              </a:rPr>
              <a:t>Home</a:t>
            </a:r>
          </a:p>
        </p:txBody>
      </p:sp>
      <p:sp>
        <p:nvSpPr>
          <p:cNvPr id="10" name="TextBox 9"/>
          <p:cNvSpPr txBox="1"/>
          <p:nvPr/>
        </p:nvSpPr>
        <p:spPr>
          <a:xfrm>
            <a:off x="4297680" y="1975104"/>
            <a:ext cx="7315200" cy="365760"/>
          </a:xfrm>
          <a:prstGeom prst="rect">
            <a:avLst/>
          </a:prstGeom>
          <a:noFill/>
        </p:spPr>
        <p:txBody>
          <a:bodyPr wrap="square">
            <a:spAutoFit/>
          </a:bodyPr>
          <a:lstStyle/>
          <a:p>
            <a:pPr algn="l"/>
            <a:r>
              <a:rPr sz="1050" b="0" i="0">
                <a:solidFill>
                  <a:srgbClr val="6B7280"/>
                </a:solidFill>
              </a:rPr>
              <a:t>Hero + search + categories + price transparency widget + featured produce</a:t>
            </a:r>
          </a:p>
        </p:txBody>
      </p:sp>
      <p:sp>
        <p:nvSpPr>
          <p:cNvPr id="11" name="Rectangle 10"/>
          <p:cNvSpPr/>
          <p:nvPr/>
        </p:nvSpPr>
        <p:spPr>
          <a:xfrm>
            <a:off x="594360" y="2377440"/>
            <a:ext cx="1115568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423160"/>
            <a:ext cx="114300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78024"/>
            <a:ext cx="1920240" cy="365760"/>
          </a:xfrm>
          <a:prstGeom prst="rect">
            <a:avLst/>
          </a:prstGeom>
          <a:noFill/>
        </p:spPr>
        <p:txBody>
          <a:bodyPr wrap="square">
            <a:spAutoFit/>
          </a:bodyPr>
          <a:lstStyle/>
          <a:p>
            <a:pPr algn="l"/>
            <a:r>
              <a:rPr sz="1050" b="1" i="0">
                <a:solidFill>
                  <a:srgbClr val="064E3B"/>
                </a:solidFill>
              </a:rPr>
              <a:t>/marketplace</a:t>
            </a:r>
          </a:p>
        </p:txBody>
      </p:sp>
      <p:sp>
        <p:nvSpPr>
          <p:cNvPr id="14" name="TextBox 13"/>
          <p:cNvSpPr txBox="1"/>
          <p:nvPr/>
        </p:nvSpPr>
        <p:spPr>
          <a:xfrm>
            <a:off x="2423160" y="2478024"/>
            <a:ext cx="1828800" cy="365760"/>
          </a:xfrm>
          <a:prstGeom prst="rect">
            <a:avLst/>
          </a:prstGeom>
          <a:noFill/>
        </p:spPr>
        <p:txBody>
          <a:bodyPr wrap="square">
            <a:spAutoFit/>
          </a:bodyPr>
          <a:lstStyle/>
          <a:p>
            <a:pPr algn="l"/>
            <a:r>
              <a:rPr sz="1100" b="1" i="0">
                <a:solidFill>
                  <a:srgbClr val="1F2937"/>
                </a:solidFill>
              </a:rPr>
              <a:t>Marketplace</a:t>
            </a:r>
          </a:p>
        </p:txBody>
      </p:sp>
      <p:sp>
        <p:nvSpPr>
          <p:cNvPr id="15" name="TextBox 14"/>
          <p:cNvSpPr txBox="1"/>
          <p:nvPr/>
        </p:nvSpPr>
        <p:spPr>
          <a:xfrm>
            <a:off x="4297680" y="2478024"/>
            <a:ext cx="7315200" cy="365760"/>
          </a:xfrm>
          <a:prstGeom prst="rect">
            <a:avLst/>
          </a:prstGeom>
          <a:noFill/>
        </p:spPr>
        <p:txBody>
          <a:bodyPr wrap="square">
            <a:spAutoFit/>
          </a:bodyPr>
          <a:lstStyle/>
          <a:p>
            <a:pPr algn="l"/>
            <a:r>
              <a:rPr sz="1050" b="0" i="0">
                <a:solidFill>
                  <a:srgbClr val="6B7280"/>
                </a:solidFill>
              </a:rPr>
              <a:t>Browse all listings — filter by category, price, location, quality grade</a:t>
            </a:r>
          </a:p>
        </p:txBody>
      </p:sp>
      <p:sp>
        <p:nvSpPr>
          <p:cNvPr id="16" name="Rectangle 15"/>
          <p:cNvSpPr/>
          <p:nvPr/>
        </p:nvSpPr>
        <p:spPr>
          <a:xfrm>
            <a:off x="594360" y="2880360"/>
            <a:ext cx="1115568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2926080"/>
            <a:ext cx="11430000" cy="475488"/>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980944"/>
            <a:ext cx="1920240" cy="365760"/>
          </a:xfrm>
          <a:prstGeom prst="rect">
            <a:avLst/>
          </a:prstGeom>
          <a:noFill/>
        </p:spPr>
        <p:txBody>
          <a:bodyPr wrap="square">
            <a:spAutoFit/>
          </a:bodyPr>
          <a:lstStyle/>
          <a:p>
            <a:pPr algn="l"/>
            <a:r>
              <a:rPr sz="1050" b="1" i="0">
                <a:solidFill>
                  <a:srgbClr val="064E3B"/>
                </a:solidFill>
              </a:rPr>
              <a:t>/produce/[id]</a:t>
            </a:r>
          </a:p>
        </p:txBody>
      </p:sp>
      <p:sp>
        <p:nvSpPr>
          <p:cNvPr id="19" name="TextBox 18"/>
          <p:cNvSpPr txBox="1"/>
          <p:nvPr/>
        </p:nvSpPr>
        <p:spPr>
          <a:xfrm>
            <a:off x="2423160" y="2980944"/>
            <a:ext cx="1828800" cy="365760"/>
          </a:xfrm>
          <a:prstGeom prst="rect">
            <a:avLst/>
          </a:prstGeom>
          <a:noFill/>
        </p:spPr>
        <p:txBody>
          <a:bodyPr wrap="square">
            <a:spAutoFit/>
          </a:bodyPr>
          <a:lstStyle/>
          <a:p>
            <a:pPr algn="l"/>
            <a:r>
              <a:rPr sz="1100" b="1" i="0">
                <a:solidFill>
                  <a:srgbClr val="1F2937"/>
                </a:solidFill>
              </a:rPr>
              <a:t>Product Detail</a:t>
            </a:r>
          </a:p>
        </p:txBody>
      </p:sp>
      <p:sp>
        <p:nvSpPr>
          <p:cNvPr id="20" name="TextBox 19"/>
          <p:cNvSpPr txBox="1"/>
          <p:nvPr/>
        </p:nvSpPr>
        <p:spPr>
          <a:xfrm>
            <a:off x="4297680" y="2980944"/>
            <a:ext cx="7315200" cy="365760"/>
          </a:xfrm>
          <a:prstGeom prst="rect">
            <a:avLst/>
          </a:prstGeom>
          <a:noFill/>
        </p:spPr>
        <p:txBody>
          <a:bodyPr wrap="square">
            <a:spAutoFit/>
          </a:bodyPr>
          <a:lstStyle/>
          <a:p>
            <a:pPr algn="l"/>
            <a:r>
              <a:rPr sz="1050" b="0" i="0">
                <a:solidFill>
                  <a:srgbClr val="6B7280"/>
                </a:solidFill>
              </a:rPr>
              <a:t>Full crop info, farmer profile, price transparency, order drawer</a:t>
            </a:r>
          </a:p>
        </p:txBody>
      </p:sp>
      <p:sp>
        <p:nvSpPr>
          <p:cNvPr id="21" name="Rectangle 20"/>
          <p:cNvSpPr/>
          <p:nvPr/>
        </p:nvSpPr>
        <p:spPr>
          <a:xfrm>
            <a:off x="594360" y="3383280"/>
            <a:ext cx="1115568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429000"/>
            <a:ext cx="114300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3483864"/>
            <a:ext cx="1920240" cy="365760"/>
          </a:xfrm>
          <a:prstGeom prst="rect">
            <a:avLst/>
          </a:prstGeom>
          <a:noFill/>
        </p:spPr>
        <p:txBody>
          <a:bodyPr wrap="square">
            <a:spAutoFit/>
          </a:bodyPr>
          <a:lstStyle/>
          <a:p>
            <a:pPr algn="l"/>
            <a:r>
              <a:rPr sz="1050" b="1" i="0">
                <a:solidFill>
                  <a:srgbClr val="064E3B"/>
                </a:solidFill>
              </a:rPr>
              <a:t>/farmer</a:t>
            </a:r>
          </a:p>
        </p:txBody>
      </p:sp>
      <p:sp>
        <p:nvSpPr>
          <p:cNvPr id="24" name="TextBox 23"/>
          <p:cNvSpPr txBox="1"/>
          <p:nvPr/>
        </p:nvSpPr>
        <p:spPr>
          <a:xfrm>
            <a:off x="2423160" y="3483864"/>
            <a:ext cx="1828800" cy="365760"/>
          </a:xfrm>
          <a:prstGeom prst="rect">
            <a:avLst/>
          </a:prstGeom>
          <a:noFill/>
        </p:spPr>
        <p:txBody>
          <a:bodyPr wrap="square">
            <a:spAutoFit/>
          </a:bodyPr>
          <a:lstStyle/>
          <a:p>
            <a:pPr algn="l"/>
            <a:r>
              <a:rPr sz="1100" b="1" i="0">
                <a:solidFill>
                  <a:srgbClr val="1F2937"/>
                </a:solidFill>
              </a:rPr>
              <a:t>Farmer Dashboard</a:t>
            </a:r>
          </a:p>
        </p:txBody>
      </p:sp>
      <p:sp>
        <p:nvSpPr>
          <p:cNvPr id="25" name="TextBox 24"/>
          <p:cNvSpPr txBox="1"/>
          <p:nvPr/>
        </p:nvSpPr>
        <p:spPr>
          <a:xfrm>
            <a:off x="4297680" y="3483864"/>
            <a:ext cx="7315200" cy="365760"/>
          </a:xfrm>
          <a:prstGeom prst="rect">
            <a:avLst/>
          </a:prstGeom>
          <a:noFill/>
        </p:spPr>
        <p:txBody>
          <a:bodyPr wrap="square">
            <a:spAutoFit/>
          </a:bodyPr>
          <a:lstStyle/>
          <a:p>
            <a:pPr algn="l"/>
            <a:r>
              <a:rPr sz="1050" b="0" i="0">
                <a:solidFill>
                  <a:srgbClr val="6B7280"/>
                </a:solidFill>
              </a:rPr>
              <a:t>KPIs, add/edit crops, photo upload, view &amp; manage incoming orders</a:t>
            </a:r>
          </a:p>
        </p:txBody>
      </p:sp>
      <p:sp>
        <p:nvSpPr>
          <p:cNvPr id="26" name="Rectangle 25"/>
          <p:cNvSpPr/>
          <p:nvPr/>
        </p:nvSpPr>
        <p:spPr>
          <a:xfrm>
            <a:off x="594360" y="3886200"/>
            <a:ext cx="1115568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3931920"/>
            <a:ext cx="11430000" cy="475488"/>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986784"/>
            <a:ext cx="1920240" cy="365760"/>
          </a:xfrm>
          <a:prstGeom prst="rect">
            <a:avLst/>
          </a:prstGeom>
          <a:noFill/>
        </p:spPr>
        <p:txBody>
          <a:bodyPr wrap="square">
            <a:spAutoFit/>
          </a:bodyPr>
          <a:lstStyle/>
          <a:p>
            <a:pPr algn="l"/>
            <a:r>
              <a:rPr sz="1050" b="1" i="0">
                <a:solidFill>
                  <a:srgbClr val="064E3B"/>
                </a:solidFill>
              </a:rPr>
              <a:t>/orders</a:t>
            </a:r>
          </a:p>
        </p:txBody>
      </p:sp>
      <p:sp>
        <p:nvSpPr>
          <p:cNvPr id="29" name="TextBox 28"/>
          <p:cNvSpPr txBox="1"/>
          <p:nvPr/>
        </p:nvSpPr>
        <p:spPr>
          <a:xfrm>
            <a:off x="2423160" y="3986784"/>
            <a:ext cx="1828800" cy="365760"/>
          </a:xfrm>
          <a:prstGeom prst="rect">
            <a:avLst/>
          </a:prstGeom>
          <a:noFill/>
        </p:spPr>
        <p:txBody>
          <a:bodyPr wrap="square">
            <a:spAutoFit/>
          </a:bodyPr>
          <a:lstStyle/>
          <a:p>
            <a:pPr algn="l"/>
            <a:r>
              <a:rPr sz="1100" b="1" i="0">
                <a:solidFill>
                  <a:srgbClr val="1F2937"/>
                </a:solidFill>
              </a:rPr>
              <a:t>My Orders</a:t>
            </a:r>
          </a:p>
        </p:txBody>
      </p:sp>
      <p:sp>
        <p:nvSpPr>
          <p:cNvPr id="30" name="TextBox 29"/>
          <p:cNvSpPr txBox="1"/>
          <p:nvPr/>
        </p:nvSpPr>
        <p:spPr>
          <a:xfrm>
            <a:off x="4297680" y="3986784"/>
            <a:ext cx="7315200" cy="365760"/>
          </a:xfrm>
          <a:prstGeom prst="rect">
            <a:avLst/>
          </a:prstGeom>
          <a:noFill/>
        </p:spPr>
        <p:txBody>
          <a:bodyPr wrap="square">
            <a:spAutoFit/>
          </a:bodyPr>
          <a:lstStyle/>
          <a:p>
            <a:pPr algn="l"/>
            <a:r>
              <a:rPr sz="1050" b="0" i="0">
                <a:solidFill>
                  <a:srgbClr val="6B7280"/>
                </a:solidFill>
              </a:rPr>
              <a:t>Buyer's order list with 4-step live tracking timeline</a:t>
            </a:r>
          </a:p>
        </p:txBody>
      </p:sp>
      <p:sp>
        <p:nvSpPr>
          <p:cNvPr id="31" name="Rectangle 30"/>
          <p:cNvSpPr/>
          <p:nvPr/>
        </p:nvSpPr>
        <p:spPr>
          <a:xfrm>
            <a:off x="594360" y="4389120"/>
            <a:ext cx="1115568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4434840"/>
            <a:ext cx="114300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489703"/>
            <a:ext cx="1920240" cy="365760"/>
          </a:xfrm>
          <a:prstGeom prst="rect">
            <a:avLst/>
          </a:prstGeom>
          <a:noFill/>
        </p:spPr>
        <p:txBody>
          <a:bodyPr wrap="square">
            <a:spAutoFit/>
          </a:bodyPr>
          <a:lstStyle/>
          <a:p>
            <a:pPr algn="l"/>
            <a:r>
              <a:rPr sz="1050" b="1" i="0">
                <a:solidFill>
                  <a:srgbClr val="064E3B"/>
                </a:solidFill>
              </a:rPr>
              <a:t>/checkout</a:t>
            </a:r>
          </a:p>
        </p:txBody>
      </p:sp>
      <p:sp>
        <p:nvSpPr>
          <p:cNvPr id="34" name="TextBox 33"/>
          <p:cNvSpPr txBox="1"/>
          <p:nvPr/>
        </p:nvSpPr>
        <p:spPr>
          <a:xfrm>
            <a:off x="2423160" y="4489703"/>
            <a:ext cx="1828800" cy="365760"/>
          </a:xfrm>
          <a:prstGeom prst="rect">
            <a:avLst/>
          </a:prstGeom>
          <a:noFill/>
        </p:spPr>
        <p:txBody>
          <a:bodyPr wrap="square">
            <a:spAutoFit/>
          </a:bodyPr>
          <a:lstStyle/>
          <a:p>
            <a:pPr algn="l"/>
            <a:r>
              <a:rPr sz="1100" b="1" i="0">
                <a:solidFill>
                  <a:srgbClr val="1F2937"/>
                </a:solidFill>
              </a:rPr>
              <a:t>Checkout</a:t>
            </a:r>
          </a:p>
        </p:txBody>
      </p:sp>
      <p:sp>
        <p:nvSpPr>
          <p:cNvPr id="35" name="TextBox 34"/>
          <p:cNvSpPr txBox="1"/>
          <p:nvPr/>
        </p:nvSpPr>
        <p:spPr>
          <a:xfrm>
            <a:off x="4297680" y="4489703"/>
            <a:ext cx="7315200" cy="365760"/>
          </a:xfrm>
          <a:prstGeom prst="rect">
            <a:avLst/>
          </a:prstGeom>
          <a:noFill/>
        </p:spPr>
        <p:txBody>
          <a:bodyPr wrap="square">
            <a:spAutoFit/>
          </a:bodyPr>
          <a:lstStyle/>
          <a:p>
            <a:pPr algn="l"/>
            <a:r>
              <a:rPr sz="1050" b="0" i="0">
                <a:solidFill>
                  <a:srgbClr val="6B7280"/>
                </a:solidFill>
              </a:rPr>
              <a:t>Cart review, delivery address, hub pickup option, payment confirmation</a:t>
            </a:r>
          </a:p>
        </p:txBody>
      </p:sp>
      <p:sp>
        <p:nvSpPr>
          <p:cNvPr id="36" name="Rectangle 35"/>
          <p:cNvSpPr/>
          <p:nvPr/>
        </p:nvSpPr>
        <p:spPr>
          <a:xfrm>
            <a:off x="594360" y="4892040"/>
            <a:ext cx="1115568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5760" y="4937760"/>
            <a:ext cx="11430000" cy="475488"/>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4992624"/>
            <a:ext cx="1920240" cy="365760"/>
          </a:xfrm>
          <a:prstGeom prst="rect">
            <a:avLst/>
          </a:prstGeom>
          <a:noFill/>
        </p:spPr>
        <p:txBody>
          <a:bodyPr wrap="square">
            <a:spAutoFit/>
          </a:bodyPr>
          <a:lstStyle/>
          <a:p>
            <a:pPr algn="l"/>
            <a:r>
              <a:rPr sz="1050" b="1" i="0">
                <a:solidFill>
                  <a:srgbClr val="064E3B"/>
                </a:solidFill>
              </a:rPr>
              <a:t>/login</a:t>
            </a:r>
          </a:p>
        </p:txBody>
      </p:sp>
      <p:sp>
        <p:nvSpPr>
          <p:cNvPr id="39" name="TextBox 38"/>
          <p:cNvSpPr txBox="1"/>
          <p:nvPr/>
        </p:nvSpPr>
        <p:spPr>
          <a:xfrm>
            <a:off x="2423160" y="4992624"/>
            <a:ext cx="1828800" cy="365760"/>
          </a:xfrm>
          <a:prstGeom prst="rect">
            <a:avLst/>
          </a:prstGeom>
          <a:noFill/>
        </p:spPr>
        <p:txBody>
          <a:bodyPr wrap="square">
            <a:spAutoFit/>
          </a:bodyPr>
          <a:lstStyle/>
          <a:p>
            <a:pPr algn="l"/>
            <a:r>
              <a:rPr sz="1100" b="1" i="0">
                <a:solidFill>
                  <a:srgbClr val="1F2937"/>
                </a:solidFill>
              </a:rPr>
              <a:t>Login</a:t>
            </a:r>
          </a:p>
        </p:txBody>
      </p:sp>
      <p:sp>
        <p:nvSpPr>
          <p:cNvPr id="40" name="TextBox 39"/>
          <p:cNvSpPr txBox="1"/>
          <p:nvPr/>
        </p:nvSpPr>
        <p:spPr>
          <a:xfrm>
            <a:off x="4297680" y="4992624"/>
            <a:ext cx="7315200" cy="365760"/>
          </a:xfrm>
          <a:prstGeom prst="rect">
            <a:avLst/>
          </a:prstGeom>
          <a:noFill/>
        </p:spPr>
        <p:txBody>
          <a:bodyPr wrap="square">
            <a:spAutoFit/>
          </a:bodyPr>
          <a:lstStyle/>
          <a:p>
            <a:pPr algn="l"/>
            <a:r>
              <a:rPr sz="1050" b="0" i="0">
                <a:solidFill>
                  <a:srgbClr val="6B7280"/>
                </a:solidFill>
              </a:rPr>
              <a:t>Sign in with phone or email — JWT token issued on success</a:t>
            </a:r>
          </a:p>
        </p:txBody>
      </p:sp>
      <p:sp>
        <p:nvSpPr>
          <p:cNvPr id="41" name="Rectangle 40"/>
          <p:cNvSpPr/>
          <p:nvPr/>
        </p:nvSpPr>
        <p:spPr>
          <a:xfrm>
            <a:off x="594360" y="5394960"/>
            <a:ext cx="1115568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5760" y="5440680"/>
            <a:ext cx="1143000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5495544"/>
            <a:ext cx="1920240" cy="365760"/>
          </a:xfrm>
          <a:prstGeom prst="rect">
            <a:avLst/>
          </a:prstGeom>
          <a:noFill/>
        </p:spPr>
        <p:txBody>
          <a:bodyPr wrap="square">
            <a:spAutoFit/>
          </a:bodyPr>
          <a:lstStyle/>
          <a:p>
            <a:pPr algn="l"/>
            <a:r>
              <a:rPr sz="1050" b="1" i="0">
                <a:solidFill>
                  <a:srgbClr val="064E3B"/>
                </a:solidFill>
              </a:rPr>
              <a:t>/register</a:t>
            </a:r>
          </a:p>
        </p:txBody>
      </p:sp>
      <p:sp>
        <p:nvSpPr>
          <p:cNvPr id="44" name="TextBox 43"/>
          <p:cNvSpPr txBox="1"/>
          <p:nvPr/>
        </p:nvSpPr>
        <p:spPr>
          <a:xfrm>
            <a:off x="2423160" y="5495544"/>
            <a:ext cx="1828800" cy="365760"/>
          </a:xfrm>
          <a:prstGeom prst="rect">
            <a:avLst/>
          </a:prstGeom>
          <a:noFill/>
        </p:spPr>
        <p:txBody>
          <a:bodyPr wrap="square">
            <a:spAutoFit/>
          </a:bodyPr>
          <a:lstStyle/>
          <a:p>
            <a:pPr algn="l"/>
            <a:r>
              <a:rPr sz="1100" b="1" i="0">
                <a:solidFill>
                  <a:srgbClr val="1F2937"/>
                </a:solidFill>
              </a:rPr>
              <a:t>Register</a:t>
            </a:r>
          </a:p>
        </p:txBody>
      </p:sp>
      <p:sp>
        <p:nvSpPr>
          <p:cNvPr id="45" name="TextBox 44"/>
          <p:cNvSpPr txBox="1"/>
          <p:nvPr/>
        </p:nvSpPr>
        <p:spPr>
          <a:xfrm>
            <a:off x="4297680" y="5495544"/>
            <a:ext cx="7315200" cy="365760"/>
          </a:xfrm>
          <a:prstGeom prst="rect">
            <a:avLst/>
          </a:prstGeom>
          <a:noFill/>
        </p:spPr>
        <p:txBody>
          <a:bodyPr wrap="square">
            <a:spAutoFit/>
          </a:bodyPr>
          <a:lstStyle/>
          <a:p>
            <a:pPr algn="l"/>
            <a:r>
              <a:rPr sz="1050" b="0" i="0">
                <a:solidFill>
                  <a:srgbClr val="6B7280"/>
                </a:solidFill>
              </a:rPr>
              <a:t>Create account — choose Farmer or Buyer role — goes live immediately</a:t>
            </a:r>
          </a:p>
        </p:txBody>
      </p:sp>
      <p:sp>
        <p:nvSpPr>
          <p:cNvPr id="46" name="Rectangle 45"/>
          <p:cNvSpPr/>
          <p:nvPr/>
        </p:nvSpPr>
        <p:spPr>
          <a:xfrm>
            <a:off x="594360" y="5897880"/>
            <a:ext cx="1115568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65760" y="5943600"/>
            <a:ext cx="11430000" cy="475488"/>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5998464"/>
            <a:ext cx="1920240" cy="365760"/>
          </a:xfrm>
          <a:prstGeom prst="rect">
            <a:avLst/>
          </a:prstGeom>
          <a:noFill/>
        </p:spPr>
        <p:txBody>
          <a:bodyPr wrap="square">
            <a:spAutoFit/>
          </a:bodyPr>
          <a:lstStyle/>
          <a:p>
            <a:pPr algn="l"/>
            <a:r>
              <a:rPr sz="1050" b="1" i="0">
                <a:solidFill>
                  <a:srgbClr val="064E3B"/>
                </a:solidFill>
              </a:rPr>
              <a:t>/admin</a:t>
            </a:r>
          </a:p>
        </p:txBody>
      </p:sp>
      <p:sp>
        <p:nvSpPr>
          <p:cNvPr id="49" name="TextBox 48"/>
          <p:cNvSpPr txBox="1"/>
          <p:nvPr/>
        </p:nvSpPr>
        <p:spPr>
          <a:xfrm>
            <a:off x="2423160" y="5998464"/>
            <a:ext cx="1828800" cy="365760"/>
          </a:xfrm>
          <a:prstGeom prst="rect">
            <a:avLst/>
          </a:prstGeom>
          <a:noFill/>
        </p:spPr>
        <p:txBody>
          <a:bodyPr wrap="square">
            <a:spAutoFit/>
          </a:bodyPr>
          <a:lstStyle/>
          <a:p>
            <a:pPr algn="l"/>
            <a:r>
              <a:rPr sz="1100" b="1" i="0">
                <a:solidFill>
                  <a:srgbClr val="1F2937"/>
                </a:solidFill>
              </a:rPr>
              <a:t>Admin Panel</a:t>
            </a:r>
          </a:p>
        </p:txBody>
      </p:sp>
      <p:sp>
        <p:nvSpPr>
          <p:cNvPr id="50" name="TextBox 49"/>
          <p:cNvSpPr txBox="1"/>
          <p:nvPr/>
        </p:nvSpPr>
        <p:spPr>
          <a:xfrm>
            <a:off x="4297680" y="5998464"/>
            <a:ext cx="7315200" cy="365760"/>
          </a:xfrm>
          <a:prstGeom prst="rect">
            <a:avLst/>
          </a:prstGeom>
          <a:noFill/>
        </p:spPr>
        <p:txBody>
          <a:bodyPr wrap="square">
            <a:spAutoFit/>
          </a:bodyPr>
          <a:lstStyle/>
          <a:p>
            <a:pPr algn="l"/>
            <a:r>
              <a:rPr sz="1050" b="0" i="0">
                <a:solidFill>
                  <a:srgbClr val="6B7280"/>
                </a:solidFill>
              </a:rPr>
              <a:t>Manage all users, moderate listings, audit orders, manage hubs</a:t>
            </a:r>
          </a:p>
        </p:txBody>
      </p:sp>
      <p:sp>
        <p:nvSpPr>
          <p:cNvPr id="51" name="Rectangle 50"/>
          <p:cNvSpPr/>
          <p:nvPr/>
        </p:nvSpPr>
        <p:spPr>
          <a:xfrm>
            <a:off x="594360" y="6400800"/>
            <a:ext cx="1115568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822960"/>
          </a:xfrm>
          <a:prstGeom prst="rect">
            <a:avLst/>
          </a:prstGeom>
          <a:noFill/>
        </p:spPr>
        <p:txBody>
          <a:bodyPr wrap="square">
            <a:spAutoFit/>
          </a:bodyPr>
          <a:lstStyle/>
          <a:p>
            <a:pPr algn="l"/>
            <a:r>
              <a:rPr sz="3000" b="1" i="0">
                <a:solidFill>
                  <a:srgbClr val="FFFFFF"/>
                </a:solidFill>
              </a:rPr>
              <a:t>Impact &amp; Future Scope</a:t>
            </a: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548640" y="1097280"/>
            <a:ext cx="10972800" cy="685800"/>
          </a:xfrm>
          <a:prstGeom prst="rect">
            <a:avLst/>
          </a:prstGeom>
          <a:noFill/>
        </p:spPr>
        <p:txBody>
          <a:bodyPr wrap="square">
            <a:spAutoFit/>
          </a:bodyPr>
          <a:lstStyle/>
          <a:p>
            <a:pPr algn="l"/>
            <a:r>
              <a:rPr sz="1400" b="0" i="0">
                <a:solidFill>
                  <a:srgbClr val="1F2937"/>
                </a:solidFill>
              </a:rPr>
              <a:t>KisanConnect directly addresses India's most critical agricultural problem — income disparity between farmers and the market. The platform is built to scale from a hackathon prototype to a production system serving millions of farmers.</a:t>
            </a:r>
          </a:p>
        </p:txBody>
      </p:sp>
      <p:sp>
        <p:nvSpPr>
          <p:cNvPr id="7" name="Rectangle 6"/>
          <p:cNvSpPr/>
          <p:nvPr/>
        </p:nvSpPr>
        <p:spPr>
          <a:xfrm>
            <a:off x="594360" y="1874519"/>
            <a:ext cx="10972800" cy="36576"/>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011680"/>
            <a:ext cx="2560320" cy="13716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057400"/>
            <a:ext cx="2377440" cy="685800"/>
          </a:xfrm>
          <a:prstGeom prst="rect">
            <a:avLst/>
          </a:prstGeom>
          <a:noFill/>
        </p:spPr>
        <p:txBody>
          <a:bodyPr wrap="square">
            <a:spAutoFit/>
          </a:bodyPr>
          <a:lstStyle/>
          <a:p>
            <a:pPr algn="ctr"/>
            <a:r>
              <a:rPr sz="3200" b="1" i="0">
                <a:solidFill>
                  <a:srgbClr val="F59E0B"/>
                </a:solidFill>
              </a:rPr>
              <a:t>146M</a:t>
            </a:r>
          </a:p>
        </p:txBody>
      </p:sp>
      <p:sp>
        <p:nvSpPr>
          <p:cNvPr id="10" name="TextBox 9"/>
          <p:cNvSpPr txBox="1"/>
          <p:nvPr/>
        </p:nvSpPr>
        <p:spPr>
          <a:xfrm>
            <a:off x="548640" y="2743200"/>
            <a:ext cx="2377440" cy="594360"/>
          </a:xfrm>
          <a:prstGeom prst="rect">
            <a:avLst/>
          </a:prstGeom>
          <a:noFill/>
        </p:spPr>
        <p:txBody>
          <a:bodyPr wrap="square">
            <a:spAutoFit/>
          </a:bodyPr>
          <a:lstStyle/>
          <a:p>
            <a:pPr algn="ctr"/>
            <a:r>
              <a:rPr sz="1050" b="0" i="0">
                <a:solidFill>
                  <a:srgbClr val="FFFFFF"/>
                </a:solidFill>
              </a:rPr>
              <a:t>Farming families
in India who can benefit</a:t>
            </a:r>
          </a:p>
        </p:txBody>
      </p:sp>
      <p:sp>
        <p:nvSpPr>
          <p:cNvPr id="11" name="Rectangle 10"/>
          <p:cNvSpPr/>
          <p:nvPr/>
        </p:nvSpPr>
        <p:spPr>
          <a:xfrm>
            <a:off x="3291840" y="2011680"/>
            <a:ext cx="2560320" cy="13716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2057400"/>
            <a:ext cx="2377440" cy="685800"/>
          </a:xfrm>
          <a:prstGeom prst="rect">
            <a:avLst/>
          </a:prstGeom>
          <a:noFill/>
        </p:spPr>
        <p:txBody>
          <a:bodyPr wrap="square">
            <a:spAutoFit/>
          </a:bodyPr>
          <a:lstStyle/>
          <a:p>
            <a:pPr algn="ctr"/>
            <a:r>
              <a:rPr sz="3200" b="1" i="0">
                <a:solidFill>
                  <a:srgbClr val="F59E0B"/>
                </a:solidFill>
              </a:rPr>
              <a:t>₹10K</a:t>
            </a:r>
          </a:p>
        </p:txBody>
      </p:sp>
      <p:sp>
        <p:nvSpPr>
          <p:cNvPr id="13" name="TextBox 12"/>
          <p:cNvSpPr txBox="1"/>
          <p:nvPr/>
        </p:nvSpPr>
        <p:spPr>
          <a:xfrm>
            <a:off x="3383280" y="2743200"/>
            <a:ext cx="2377440" cy="594360"/>
          </a:xfrm>
          <a:prstGeom prst="rect">
            <a:avLst/>
          </a:prstGeom>
          <a:noFill/>
        </p:spPr>
        <p:txBody>
          <a:bodyPr wrap="square">
            <a:spAutoFit/>
          </a:bodyPr>
          <a:lstStyle/>
          <a:p>
            <a:pPr algn="ctr"/>
            <a:r>
              <a:rPr sz="1050" b="0" i="0">
                <a:solidFill>
                  <a:srgbClr val="FFFFFF"/>
                </a:solidFill>
              </a:rPr>
              <a:t>Average monthly farmer
income — we aim to double it</a:t>
            </a:r>
          </a:p>
        </p:txBody>
      </p:sp>
      <p:sp>
        <p:nvSpPr>
          <p:cNvPr id="14" name="Rectangle 13"/>
          <p:cNvSpPr/>
          <p:nvPr/>
        </p:nvSpPr>
        <p:spPr>
          <a:xfrm>
            <a:off x="6126480" y="2011680"/>
            <a:ext cx="2560320" cy="13716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2057400"/>
            <a:ext cx="2377440" cy="685800"/>
          </a:xfrm>
          <a:prstGeom prst="rect">
            <a:avLst/>
          </a:prstGeom>
          <a:noFill/>
        </p:spPr>
        <p:txBody>
          <a:bodyPr wrap="square">
            <a:spAutoFit/>
          </a:bodyPr>
          <a:lstStyle/>
          <a:p>
            <a:pPr algn="ctr"/>
            <a:r>
              <a:rPr sz="3200" b="1" i="0">
                <a:solidFill>
                  <a:srgbClr val="F59E0B"/>
                </a:solidFill>
              </a:rPr>
              <a:t>60%</a:t>
            </a:r>
          </a:p>
        </p:txBody>
      </p:sp>
      <p:sp>
        <p:nvSpPr>
          <p:cNvPr id="16" name="TextBox 15"/>
          <p:cNvSpPr txBox="1"/>
          <p:nvPr/>
        </p:nvSpPr>
        <p:spPr>
          <a:xfrm>
            <a:off x="6217920" y="2743200"/>
            <a:ext cx="2377440" cy="594360"/>
          </a:xfrm>
          <a:prstGeom prst="rect">
            <a:avLst/>
          </a:prstGeom>
          <a:noFill/>
        </p:spPr>
        <p:txBody>
          <a:bodyPr wrap="square">
            <a:spAutoFit/>
          </a:bodyPr>
          <a:lstStyle/>
          <a:p>
            <a:pPr algn="ctr"/>
            <a:r>
              <a:rPr sz="1050" b="0" i="0">
                <a:solidFill>
                  <a:srgbClr val="FFFFFF"/>
                </a:solidFill>
              </a:rPr>
              <a:t>Cost saved vs. traditional
APMC supply chain</a:t>
            </a:r>
          </a:p>
        </p:txBody>
      </p:sp>
      <p:sp>
        <p:nvSpPr>
          <p:cNvPr id="17" name="Rectangle 16"/>
          <p:cNvSpPr/>
          <p:nvPr/>
        </p:nvSpPr>
        <p:spPr>
          <a:xfrm>
            <a:off x="8961120" y="2011680"/>
            <a:ext cx="2560320" cy="13716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2057400"/>
            <a:ext cx="2377440" cy="685800"/>
          </a:xfrm>
          <a:prstGeom prst="rect">
            <a:avLst/>
          </a:prstGeom>
          <a:noFill/>
        </p:spPr>
        <p:txBody>
          <a:bodyPr wrap="square">
            <a:spAutoFit/>
          </a:bodyPr>
          <a:lstStyle/>
          <a:p>
            <a:pPr algn="ctr"/>
            <a:r>
              <a:rPr sz="3200" b="1" i="0">
                <a:solidFill>
                  <a:srgbClr val="F59E0B"/>
                </a:solidFill>
              </a:rPr>
              <a:t>8</a:t>
            </a:r>
          </a:p>
        </p:txBody>
      </p:sp>
      <p:sp>
        <p:nvSpPr>
          <p:cNvPr id="19" name="TextBox 18"/>
          <p:cNvSpPr txBox="1"/>
          <p:nvPr/>
        </p:nvSpPr>
        <p:spPr>
          <a:xfrm>
            <a:off x="9052560" y="2743200"/>
            <a:ext cx="2377440" cy="594360"/>
          </a:xfrm>
          <a:prstGeom prst="rect">
            <a:avLst/>
          </a:prstGeom>
          <a:noFill/>
        </p:spPr>
        <p:txBody>
          <a:bodyPr wrap="square">
            <a:spAutoFit/>
          </a:bodyPr>
          <a:lstStyle/>
          <a:p>
            <a:pPr algn="ctr"/>
            <a:r>
              <a:rPr sz="1050" b="0" i="0">
                <a:solidFill>
                  <a:srgbClr val="FFFFFF"/>
                </a:solidFill>
              </a:rPr>
              <a:t>Indian languages
for true inclusivity</a:t>
            </a:r>
          </a:p>
        </p:txBody>
      </p:sp>
      <p:sp>
        <p:nvSpPr>
          <p:cNvPr id="20" name="TextBox 19"/>
          <p:cNvSpPr txBox="1"/>
          <p:nvPr/>
        </p:nvSpPr>
        <p:spPr>
          <a:xfrm>
            <a:off x="548640" y="3566160"/>
            <a:ext cx="4572000" cy="411480"/>
          </a:xfrm>
          <a:prstGeom prst="rect">
            <a:avLst/>
          </a:prstGeom>
          <a:noFill/>
        </p:spPr>
        <p:txBody>
          <a:bodyPr wrap="square">
            <a:spAutoFit/>
          </a:bodyPr>
          <a:lstStyle/>
          <a:p>
            <a:pPr algn="l"/>
            <a:r>
              <a:rPr sz="1600" b="1" i="0">
                <a:solidFill>
                  <a:srgbClr val="064E3B"/>
                </a:solidFill>
              </a:rPr>
              <a:t>🚀 Future Scope</a:t>
            </a:r>
          </a:p>
        </p:txBody>
      </p:sp>
      <p:sp>
        <p:nvSpPr>
          <p:cNvPr id="21" name="TextBox 20"/>
          <p:cNvSpPr txBox="1"/>
          <p:nvPr/>
        </p:nvSpPr>
        <p:spPr>
          <a:xfrm>
            <a:off x="6400800" y="3566160"/>
            <a:ext cx="4572000" cy="411480"/>
          </a:xfrm>
          <a:prstGeom prst="rect">
            <a:avLst/>
          </a:prstGeom>
          <a:noFill/>
        </p:spPr>
        <p:txBody>
          <a:bodyPr wrap="square">
            <a:spAutoFit/>
          </a:bodyPr>
          <a:lstStyle/>
          <a:p>
            <a:pPr algn="l"/>
            <a:r>
              <a:rPr sz="1600" b="1" i="0">
                <a:solidFill>
                  <a:srgbClr val="064E3B"/>
                </a:solidFill>
              </a:rPr>
              <a:t>🗓️ Planned for next phase</a:t>
            </a:r>
          </a:p>
        </p:txBody>
      </p:sp>
      <p:sp>
        <p:nvSpPr>
          <p:cNvPr id="22" name="TextBox 21"/>
          <p:cNvSpPr txBox="1"/>
          <p:nvPr/>
        </p:nvSpPr>
        <p:spPr>
          <a:xfrm>
            <a:off x="548640" y="4069080"/>
            <a:ext cx="5486400" cy="2560320"/>
          </a:xfrm>
          <a:prstGeom prst="rect">
            <a:avLst/>
          </a:prstGeom>
          <a:noFill/>
        </p:spPr>
        <p:txBody>
          <a:bodyPr wrap="square">
            <a:spAutoFit/>
          </a:bodyPr>
          <a:lstStyle/>
          <a:p>
            <a:pPr>
              <a:spcBef>
                <a:spcPts val="400"/>
              </a:spcBef>
            </a:pPr>
            <a:r>
              <a:rPr sz="1050" b="1">
                <a:solidFill>
                  <a:srgbClr val="F59E0B"/>
                </a:solidFill>
              </a:rPr>
              <a:t>● </a:t>
            </a:r>
            <a:r>
              <a:rPr sz="1150">
                <a:solidFill>
                  <a:srgbClr val="1F2937"/>
                </a:solidFill>
              </a:rPr>
              <a:t>UPI / Razorpay payment gateway integration</a:t>
            </a:r>
          </a:p>
          <a:p>
            <a:pPr>
              <a:spcBef>
                <a:spcPts val="400"/>
              </a:spcBef>
            </a:pPr>
            <a:r>
              <a:rPr sz="1050" b="1">
                <a:solidFill>
                  <a:srgbClr val="F59E0B"/>
                </a:solidFill>
              </a:rPr>
              <a:t>● </a:t>
            </a:r>
            <a:r>
              <a:rPr sz="1150">
                <a:solidFill>
                  <a:srgbClr val="1F2937"/>
                </a:solidFill>
              </a:rPr>
              <a:t>Real AI crop price forecast (ML model)</a:t>
            </a:r>
          </a:p>
          <a:p>
            <a:pPr>
              <a:spcBef>
                <a:spcPts val="400"/>
              </a:spcBef>
            </a:pPr>
            <a:r>
              <a:rPr sz="1050" b="1">
                <a:solidFill>
                  <a:srgbClr val="F59E0B"/>
                </a:solidFill>
              </a:rPr>
              <a:t>● </a:t>
            </a:r>
            <a:r>
              <a:rPr sz="1150">
                <a:solidFill>
                  <a:srgbClr val="1F2937"/>
                </a:solidFill>
              </a:rPr>
              <a:t>WhatsApp &amp; SMS notifications for farmers</a:t>
            </a:r>
          </a:p>
          <a:p>
            <a:pPr>
              <a:spcBef>
                <a:spcPts val="400"/>
              </a:spcBef>
            </a:pPr>
            <a:r>
              <a:rPr sz="1050" b="1">
                <a:solidFill>
                  <a:srgbClr val="F59E0B"/>
                </a:solidFill>
              </a:rPr>
              <a:t>● </a:t>
            </a:r>
            <a:r>
              <a:rPr sz="1150">
                <a:solidFill>
                  <a:srgbClr val="1F2937"/>
                </a:solidFill>
              </a:rPr>
              <a:t>Mobile app (React Native) for low-end phones</a:t>
            </a:r>
          </a:p>
          <a:p>
            <a:pPr>
              <a:spcBef>
                <a:spcPts val="400"/>
              </a:spcBef>
            </a:pPr>
            <a:r>
              <a:rPr sz="1050" b="1">
                <a:solidFill>
                  <a:srgbClr val="F59E0B"/>
                </a:solidFill>
              </a:rPr>
              <a:t>● </a:t>
            </a:r>
            <a:r>
              <a:rPr sz="1150">
                <a:solidFill>
                  <a:srgbClr val="1F2937"/>
                </a:solidFill>
              </a:rPr>
              <a:t>GPS route optimisation for delivery agents</a:t>
            </a:r>
          </a:p>
          <a:p>
            <a:pPr>
              <a:spcBef>
                <a:spcPts val="400"/>
              </a:spcBef>
            </a:pPr>
            <a:r>
              <a:rPr sz="1050" b="1">
                <a:solidFill>
                  <a:srgbClr val="F59E0B"/>
                </a:solidFill>
              </a:rPr>
              <a:t>● </a:t>
            </a:r>
            <a:r>
              <a:rPr sz="1150">
                <a:solidFill>
                  <a:srgbClr val="1F2937"/>
                </a:solidFill>
              </a:rPr>
              <a:t>Farmer cooperative group buying feature</a:t>
            </a:r>
          </a:p>
          <a:p>
            <a:pPr>
              <a:spcBef>
                <a:spcPts val="400"/>
              </a:spcBef>
            </a:pPr>
            <a:r>
              <a:rPr sz="1050" b="1">
                <a:solidFill>
                  <a:srgbClr val="F59E0B"/>
                </a:solidFill>
              </a:rPr>
              <a:t>● </a:t>
            </a:r>
            <a:r>
              <a:rPr sz="1150">
                <a:solidFill>
                  <a:srgbClr val="1F2937"/>
                </a:solidFill>
              </a:rPr>
              <a:t>QR code-based produce authenticity tracking</a:t>
            </a:r>
          </a:p>
        </p:txBody>
      </p:sp>
      <p:sp>
        <p:nvSpPr>
          <p:cNvPr id="23" name="TextBox 22"/>
          <p:cNvSpPr txBox="1"/>
          <p:nvPr/>
        </p:nvSpPr>
        <p:spPr>
          <a:xfrm>
            <a:off x="6400800" y="4069080"/>
            <a:ext cx="5486400" cy="2560320"/>
          </a:xfrm>
          <a:prstGeom prst="rect">
            <a:avLst/>
          </a:prstGeom>
          <a:noFill/>
        </p:spPr>
        <p:txBody>
          <a:bodyPr wrap="square">
            <a:spAutoFit/>
          </a:bodyPr>
          <a:lstStyle/>
          <a:p>
            <a:pPr>
              <a:spcBef>
                <a:spcPts val="400"/>
              </a:spcBef>
            </a:pPr>
            <a:r>
              <a:rPr sz="1050" b="1">
                <a:solidFill>
                  <a:srgbClr val="F59E0B"/>
                </a:solidFill>
              </a:rPr>
              <a:t>● </a:t>
            </a:r>
            <a:r>
              <a:rPr sz="1150">
                <a:solidFill>
                  <a:srgbClr val="1F2937"/>
                </a:solidFill>
              </a:rPr>
              <a:t>Government APMC API integration</a:t>
            </a:r>
          </a:p>
          <a:p>
            <a:pPr>
              <a:spcBef>
                <a:spcPts val="400"/>
              </a:spcBef>
            </a:pPr>
            <a:r>
              <a:rPr sz="1050" b="1">
                <a:solidFill>
                  <a:srgbClr val="F59E0B"/>
                </a:solidFill>
              </a:rPr>
              <a:t>● </a:t>
            </a:r>
            <a:r>
              <a:rPr sz="1150">
                <a:solidFill>
                  <a:srgbClr val="1F2937"/>
                </a:solidFill>
              </a:rPr>
              <a:t>Weather-based crop advisory system</a:t>
            </a:r>
          </a:p>
          <a:p>
            <a:pPr>
              <a:spcBef>
                <a:spcPts val="400"/>
              </a:spcBef>
            </a:pPr>
            <a:r>
              <a:rPr sz="1050" b="1">
                <a:solidFill>
                  <a:srgbClr val="F59E0B"/>
                </a:solidFill>
              </a:rPr>
              <a:t>● </a:t>
            </a:r>
            <a:r>
              <a:rPr sz="1150">
                <a:solidFill>
                  <a:srgbClr val="1F2937"/>
                </a:solidFill>
              </a:rPr>
              <a:t>Farmer loan application via NABARD</a:t>
            </a:r>
          </a:p>
          <a:p>
            <a:pPr>
              <a:spcBef>
                <a:spcPts val="400"/>
              </a:spcBef>
            </a:pPr>
            <a:r>
              <a:rPr sz="1050" b="1">
                <a:solidFill>
                  <a:srgbClr val="F59E0B"/>
                </a:solidFill>
              </a:rPr>
              <a:t>● </a:t>
            </a:r>
            <a:r>
              <a:rPr sz="1150">
                <a:solidFill>
                  <a:srgbClr val="1F2937"/>
                </a:solidFill>
              </a:rPr>
              <a:t>Multi-vendor hub network expansion</a:t>
            </a:r>
          </a:p>
          <a:p>
            <a:pPr>
              <a:spcBef>
                <a:spcPts val="400"/>
              </a:spcBef>
            </a:pPr>
            <a:r>
              <a:rPr sz="1050" b="1">
                <a:solidFill>
                  <a:srgbClr val="F59E0B"/>
                </a:solidFill>
              </a:rPr>
              <a:t>● </a:t>
            </a:r>
            <a:r>
              <a:rPr sz="1150">
                <a:solidFill>
                  <a:srgbClr val="1F2937"/>
                </a:solidFill>
              </a:rPr>
              <a:t>Export marketplace for foreign buyers</a:t>
            </a:r>
          </a:p>
          <a:p>
            <a:pPr>
              <a:spcBef>
                <a:spcPts val="400"/>
              </a:spcBef>
            </a:pPr>
            <a:r>
              <a:rPr sz="1050" b="1">
                <a:solidFill>
                  <a:srgbClr val="F59E0B"/>
                </a:solidFill>
              </a:rPr>
              <a:t>● </a:t>
            </a:r>
            <a:r>
              <a:rPr sz="1150">
                <a:solidFill>
                  <a:srgbClr val="1F2937"/>
                </a:solidFill>
              </a:rPr>
              <a:t>Voice interface for non-literate farmers</a:t>
            </a:r>
          </a:p>
          <a:p>
            <a:pPr>
              <a:spcBef>
                <a:spcPts val="400"/>
              </a:spcBef>
            </a:pPr>
            <a:r>
              <a:rPr sz="1050" b="1">
                <a:solidFill>
                  <a:srgbClr val="F59E0B"/>
                </a:solidFill>
              </a:rPr>
              <a:t>● </a:t>
            </a:r>
            <a:r>
              <a:rPr sz="1150">
                <a:solidFill>
                  <a:srgbClr val="1F2937"/>
                </a:solidFill>
              </a:rPr>
              <a:t>Carbon credit tracking for organic farms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4E3B"/>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731752" y="0"/>
            <a:ext cx="457200" cy="6858000"/>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109728"/>
            <a:ext cx="1143000" cy="5029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9648" y="118872"/>
            <a:ext cx="1097280" cy="457200"/>
          </a:xfrm>
          <a:prstGeom prst="rect">
            <a:avLst/>
          </a:prstGeom>
          <a:noFill/>
        </p:spPr>
        <p:txBody>
          <a:bodyPr wrap="none">
            <a:spAutoFit/>
          </a:bodyPr>
          <a:lstStyle/>
          <a:p>
            <a:pPr algn="ctr"/>
            <a:r>
              <a:rPr sz="750" b="1">
                <a:solidFill>
                  <a:srgbClr val="FFFFFF"/>
                </a:solidFill>
              </a:rPr>
              <a:t>Smart India
Hackathon</a:t>
            </a:r>
          </a:p>
        </p:txBody>
      </p:sp>
      <p:sp>
        <p:nvSpPr>
          <p:cNvPr id="6" name="TextBox 5"/>
          <p:cNvSpPr txBox="1"/>
          <p:nvPr/>
        </p:nvSpPr>
        <p:spPr>
          <a:xfrm>
            <a:off x="640080" y="914400"/>
            <a:ext cx="10972800" cy="822960"/>
          </a:xfrm>
          <a:prstGeom prst="rect">
            <a:avLst/>
          </a:prstGeom>
          <a:noFill/>
        </p:spPr>
        <p:txBody>
          <a:bodyPr wrap="square">
            <a:spAutoFit/>
          </a:bodyPr>
          <a:lstStyle/>
          <a:p>
            <a:pPr algn="l"/>
            <a:r>
              <a:rPr sz="4400" b="1" i="0">
                <a:solidFill>
                  <a:srgbClr val="FFFFFF"/>
                </a:solidFill>
              </a:rPr>
              <a:t>🌾 KisanConnect</a:t>
            </a:r>
          </a:p>
        </p:txBody>
      </p:sp>
      <p:sp>
        <p:nvSpPr>
          <p:cNvPr id="7" name="TextBox 6"/>
          <p:cNvSpPr txBox="1"/>
          <p:nvPr/>
        </p:nvSpPr>
        <p:spPr>
          <a:xfrm>
            <a:off x="640080" y="1828800"/>
            <a:ext cx="10972800" cy="548640"/>
          </a:xfrm>
          <a:prstGeom prst="rect">
            <a:avLst/>
          </a:prstGeom>
          <a:noFill/>
        </p:spPr>
        <p:txBody>
          <a:bodyPr wrap="square">
            <a:spAutoFit/>
          </a:bodyPr>
          <a:lstStyle/>
          <a:p>
            <a:pPr algn="l"/>
            <a:r>
              <a:rPr sz="2200" b="0" i="0">
                <a:solidFill>
                  <a:srgbClr val="A7F3D0"/>
                </a:solidFill>
              </a:rPr>
              <a:t>Empowering India's 146 Million Farmers</a:t>
            </a:r>
          </a:p>
        </p:txBody>
      </p:sp>
      <p:sp>
        <p:nvSpPr>
          <p:cNvPr id="8" name="Rectangle 7"/>
          <p:cNvSpPr/>
          <p:nvPr/>
        </p:nvSpPr>
        <p:spPr>
          <a:xfrm>
            <a:off x="594360" y="2560320"/>
            <a:ext cx="105156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743200"/>
            <a:ext cx="10972800" cy="685800"/>
          </a:xfrm>
          <a:prstGeom prst="rect">
            <a:avLst/>
          </a:prstGeom>
          <a:noFill/>
        </p:spPr>
        <p:txBody>
          <a:bodyPr wrap="square">
            <a:spAutoFit/>
          </a:bodyPr>
          <a:lstStyle/>
          <a:p>
            <a:pPr algn="l"/>
            <a:r>
              <a:rPr sz="1400" b="0" i="0">
                <a:solidFill>
                  <a:srgbClr val="D1FAE5"/>
                </a:solidFill>
              </a:rPr>
              <a:t>Built for Smart India Hackathon 2024
Full-Stack: Next.js  •  Express.js  •  Prisma  •  SQLite  •  TypeScript  •  Tailwind CSS</a:t>
            </a:r>
          </a:p>
        </p:txBody>
      </p:sp>
      <p:sp>
        <p:nvSpPr>
          <p:cNvPr id="10" name="TextBox 9"/>
          <p:cNvSpPr txBox="1"/>
          <p:nvPr/>
        </p:nvSpPr>
        <p:spPr>
          <a:xfrm>
            <a:off x="640080" y="3566160"/>
            <a:ext cx="2743200" cy="365760"/>
          </a:xfrm>
          <a:prstGeom prst="rect">
            <a:avLst/>
          </a:prstGeom>
          <a:noFill/>
        </p:spPr>
        <p:txBody>
          <a:bodyPr wrap="square">
            <a:spAutoFit/>
          </a:bodyPr>
          <a:lstStyle/>
          <a:p>
            <a:pPr algn="l"/>
            <a:r>
              <a:rPr sz="1300" b="1" i="0">
                <a:solidFill>
                  <a:srgbClr val="A7F3D0"/>
                </a:solidFill>
              </a:rPr>
              <a:t>GitHub Repository:</a:t>
            </a:r>
          </a:p>
        </p:txBody>
      </p:sp>
      <p:sp>
        <p:nvSpPr>
          <p:cNvPr id="11" name="TextBox 10"/>
          <p:cNvSpPr txBox="1"/>
          <p:nvPr/>
        </p:nvSpPr>
        <p:spPr>
          <a:xfrm>
            <a:off x="640080" y="3931920"/>
            <a:ext cx="7315200" cy="365760"/>
          </a:xfrm>
          <a:prstGeom prst="rect">
            <a:avLst/>
          </a:prstGeom>
          <a:noFill/>
        </p:spPr>
        <p:txBody>
          <a:bodyPr wrap="square">
            <a:spAutoFit/>
          </a:bodyPr>
          <a:lstStyle/>
          <a:p>
            <a:pPr algn="l"/>
            <a:r>
              <a:rPr sz="1400" b="1" i="0">
                <a:solidFill>
                  <a:srgbClr val="F59E0B"/>
                </a:solidFill>
              </a:rPr>
              <a:t>github.com/AjayJuneja14/KisanConnect</a:t>
            </a:r>
          </a:p>
        </p:txBody>
      </p:sp>
      <p:sp>
        <p:nvSpPr>
          <p:cNvPr id="12" name="TextBox 11"/>
          <p:cNvSpPr txBox="1"/>
          <p:nvPr/>
        </p:nvSpPr>
        <p:spPr>
          <a:xfrm>
            <a:off x="640080" y="4480560"/>
            <a:ext cx="2743200" cy="365760"/>
          </a:xfrm>
          <a:prstGeom prst="rect">
            <a:avLst/>
          </a:prstGeom>
          <a:noFill/>
        </p:spPr>
        <p:txBody>
          <a:bodyPr wrap="square">
            <a:spAutoFit/>
          </a:bodyPr>
          <a:lstStyle/>
          <a:p>
            <a:pPr algn="l"/>
            <a:r>
              <a:rPr sz="1300" b="1" i="0">
                <a:solidFill>
                  <a:srgbClr val="A7F3D0"/>
                </a:solidFill>
              </a:rPr>
              <a:t>Team Member:</a:t>
            </a:r>
          </a:p>
        </p:txBody>
      </p:sp>
      <p:sp>
        <p:nvSpPr>
          <p:cNvPr id="13" name="TextBox 12"/>
          <p:cNvSpPr txBox="1"/>
          <p:nvPr/>
        </p:nvSpPr>
        <p:spPr>
          <a:xfrm>
            <a:off x="640080" y="4846320"/>
            <a:ext cx="7315200" cy="365760"/>
          </a:xfrm>
          <a:prstGeom prst="rect">
            <a:avLst/>
          </a:prstGeom>
          <a:noFill/>
        </p:spPr>
        <p:txBody>
          <a:bodyPr wrap="square">
            <a:spAutoFit/>
          </a:bodyPr>
          <a:lstStyle/>
          <a:p>
            <a:pPr algn="l"/>
            <a:r>
              <a:rPr sz="1400" b="0" i="0">
                <a:solidFill>
                  <a:srgbClr val="FFFFFF"/>
                </a:solidFill>
              </a:rPr>
              <a:t>Ajay Juneja  —  ajayjuneja1407@gmail.com</a:t>
            </a:r>
          </a:p>
        </p:txBody>
      </p:sp>
      <p:sp>
        <p:nvSpPr>
          <p:cNvPr id="14" name="Rectangle 13"/>
          <p:cNvSpPr/>
          <p:nvPr/>
        </p:nvSpPr>
        <p:spPr>
          <a:xfrm>
            <a:off x="640080" y="5669280"/>
            <a:ext cx="10881360" cy="822960"/>
          </a:xfrm>
          <a:prstGeom prst="rect">
            <a:avLst/>
          </a:prstGeom>
          <a:solidFill>
            <a:srgbClr val="067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742432"/>
            <a:ext cx="10607040" cy="548640"/>
          </a:xfrm>
          <a:prstGeom prst="rect">
            <a:avLst/>
          </a:prstGeom>
          <a:noFill/>
        </p:spPr>
        <p:txBody>
          <a:bodyPr wrap="square">
            <a:spAutoFit/>
          </a:bodyPr>
          <a:lstStyle/>
          <a:p>
            <a:pPr algn="ctr"/>
            <a:r>
              <a:rPr sz="1500" b="1" i="0">
                <a:solidFill>
                  <a:srgbClr val="FFFFFF"/>
                </a:solidFill>
              </a:rPr>
              <a:t>"Kisan Ko Seedha Bazar" — Direct market access for every Indian farmer.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